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21383625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33" d="100"/>
          <a:sy n="33" d="100"/>
        </p:scale>
        <p:origin x="262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375" y="40645"/>
            <a:ext cx="21384000" cy="30276000"/>
          </a:xfrm>
          <a:prstGeom prst="rect">
            <a:avLst/>
          </a:prstGeom>
          <a:solidFill>
            <a:srgbClr val="F5E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1368000" y="1368000"/>
            <a:ext cx="1728000" cy="864000"/>
          </a:xfrm>
          <a:prstGeom prst="rect">
            <a:avLst/>
          </a:prstGeom>
          <a:solidFill>
            <a:srgbClr val="F5EDE0"/>
          </a:solidFill>
          <a:ln w="12700">
            <a:solidFill>
              <a:srgbClr val="6B5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68000" y="1548000"/>
            <a:ext cx="1728000" cy="50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6B5A48"/>
                </a:solidFill>
                <a:latin typeface="Arial"/>
              </a:rPr>
              <a:t>JCUS 18</a:t>
            </a:r>
            <a:br/>
            <a:r>
              <a:t>SEAL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0" y="1368000"/>
            <a:ext cx="14544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000" b="1" dirty="0" err="1">
                <a:solidFill>
                  <a:srgbClr val="5C4033"/>
                </a:solidFill>
                <a:latin typeface="Times New Roman"/>
              </a:rPr>
              <a:t>HiddenStay</a:t>
            </a:r>
            <a:endParaRPr sz="6000" b="1" dirty="0">
              <a:solidFill>
                <a:srgbClr val="5C4033"/>
              </a:solidFill>
              <a:latin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40000" y="1980000"/>
            <a:ext cx="14544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6B5A48"/>
                </a:solidFill>
                <a:latin typeface="Arial"/>
              </a:rPr>
              <a:t>FAIR COMMISSION HOMESTAYS + AI TRIP PLANNER · SOUTHEAST ASIA</a:t>
            </a:r>
          </a:p>
        </p:txBody>
      </p:sp>
      <p:sp>
        <p:nvSpPr>
          <p:cNvPr id="7" name="Rectangle 6"/>
          <p:cNvSpPr/>
          <p:nvPr/>
        </p:nvSpPr>
        <p:spPr>
          <a:xfrm>
            <a:off x="17784000" y="1368000"/>
            <a:ext cx="2232000" cy="864000"/>
          </a:xfrm>
          <a:prstGeom prst="rect">
            <a:avLst/>
          </a:prstGeom>
          <a:solidFill>
            <a:srgbClr val="F5EDE0"/>
          </a:solidFill>
          <a:ln w="12700">
            <a:solidFill>
              <a:srgbClr val="6B5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7784000" y="1512000"/>
            <a:ext cx="2232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6B5A48"/>
                </a:solidFill>
                <a:latin typeface="Arial"/>
              </a:rPr>
              <a:t>JAMES COOK</a:t>
            </a:r>
            <a:br/>
            <a:r>
              <a:t>UNIVERSITY</a:t>
            </a:r>
            <a:br/>
            <a:r>
              <a:t>SINGAPORE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1296000" y="6714972"/>
            <a:ext cx="9216000" cy="3420000"/>
          </a:xfrm>
          <a:prstGeom prst="rect">
            <a:avLst/>
          </a:prstGeom>
          <a:solidFill>
            <a:srgbClr val="E8DCC8"/>
          </a:solidFill>
          <a:ln w="19050"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40000" y="6858972"/>
            <a:ext cx="8856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C4033"/>
                </a:solidFill>
                <a:latin typeface="Arial Black"/>
              </a:rPr>
              <a:t>THE ISSUE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0000" y="7290972"/>
            <a:ext cx="8856000" cy="50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D2E24"/>
                </a:solidFill>
                <a:latin typeface="Arial"/>
              </a:rPr>
              <a:t>Independent homestays lose 15–30% per booking to OTAs. Travellers plan on Google and book on different apps — information and booking are split.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0000" y="7938972"/>
            <a:ext cx="2880000" cy="50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8B3A2A"/>
                </a:solidFill>
                <a:latin typeface="Arial Black"/>
              </a:rPr>
              <a:t>15–30%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0000" y="8442972"/>
            <a:ext cx="288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6B5A48"/>
                </a:solidFill>
                <a:latin typeface="Arial"/>
              </a:rPr>
              <a:t>OTA FEE TODAY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8000" y="7938972"/>
            <a:ext cx="2880000" cy="50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8B3A2A"/>
                </a:solidFill>
                <a:latin typeface="Arial Black"/>
              </a:rPr>
              <a:t>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8000" y="8442972"/>
            <a:ext cx="288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6B5A48"/>
                </a:solidFill>
                <a:latin typeface="Arial"/>
              </a:rPr>
              <a:t>HIDDENSTAY FEE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16000" y="7938972"/>
            <a:ext cx="2880000" cy="50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8B3A2A"/>
                </a:solidFill>
                <a:latin typeface="Arial Black"/>
              </a:rPr>
              <a:t>95%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16000" y="8442972"/>
            <a:ext cx="288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6B5A48"/>
                </a:solidFill>
                <a:latin typeface="Arial"/>
              </a:rPr>
              <a:t>HOST KEEPS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0000" y="9702972"/>
            <a:ext cx="8856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D2E24"/>
                </a:solidFill>
                <a:latin typeface="Arial"/>
              </a:rPr>
              <a:t>SGD 100 stay → host saves SGD 13+ vs 18% OTA.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800000" y="2448000"/>
            <a:ext cx="9216000" cy="3420000"/>
          </a:xfrm>
          <a:prstGeom prst="rect">
            <a:avLst/>
          </a:prstGeom>
          <a:solidFill>
            <a:srgbClr val="E8DCC8"/>
          </a:solidFill>
          <a:ln w="19050"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80000" y="2592000"/>
            <a:ext cx="8856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C4033"/>
                </a:solidFill>
                <a:latin typeface="Arial Black"/>
              </a:rPr>
              <a:t>BUSINESS MODEL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088000" y="3096000"/>
            <a:ext cx="1368000" cy="504000"/>
          </a:xfrm>
          <a:prstGeom prst="roundRect">
            <a:avLst/>
          </a:prstGeom>
          <a:solidFill>
            <a:srgbClr val="D4C4A8"/>
          </a:solidFill>
          <a:ln w="19050"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124000" y="3150000"/>
            <a:ext cx="1296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3D2E24"/>
                </a:solidFill>
                <a:latin typeface="Arial"/>
              </a:rPr>
              <a:t>FOCUS</a:t>
            </a:r>
            <a:br/>
            <a:r>
              <a:t>Supply +</a:t>
            </a:r>
            <a:br/>
            <a:r>
              <a:t>planner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724000" y="3096000"/>
            <a:ext cx="1368000" cy="504000"/>
          </a:xfrm>
          <a:prstGeom prst="roundRect">
            <a:avLst/>
          </a:prstGeom>
          <a:solidFill>
            <a:srgbClr val="D4C4A8"/>
          </a:solidFill>
          <a:ln w="19050"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4760000" y="3150000"/>
            <a:ext cx="1296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3D2E24"/>
                </a:solidFill>
                <a:latin typeface="Arial"/>
              </a:rPr>
              <a:t>SUBSCRIPTION</a:t>
            </a:r>
            <a:br/>
            <a:r>
              <a:t>Free</a:t>
            </a:r>
            <a:br/>
            <a:r>
              <a:t>Starter · 5%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360000" y="3096000"/>
            <a:ext cx="1368000" cy="504000"/>
          </a:xfrm>
          <a:prstGeom prst="roundRect">
            <a:avLst/>
          </a:prstGeom>
          <a:solidFill>
            <a:srgbClr val="D4C4A8"/>
          </a:solidFill>
          <a:ln w="19050"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8396000" y="3150000"/>
            <a:ext cx="1296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3D2E24"/>
                </a:solidFill>
                <a:latin typeface="Arial"/>
              </a:rPr>
              <a:t>REVENUE</a:t>
            </a:r>
            <a:br/>
            <a:r>
              <a:t>4 income</a:t>
            </a:r>
            <a:br/>
            <a:r>
              <a:t>streams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232000" y="3816000"/>
            <a:ext cx="8352000" cy="324000"/>
          </a:xfrm>
          <a:prstGeom prst="roundRect">
            <a:avLst/>
          </a:prstGeom>
          <a:solidFill>
            <a:srgbClr val="C47A3A"/>
          </a:solidFill>
          <a:ln w="19050"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268000" y="3870000"/>
            <a:ext cx="8280000" cy="25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3D2E24"/>
                </a:solidFill>
                <a:latin typeface="Arial"/>
              </a:rPr>
              <a:t>5% booking fee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80000" y="4032000"/>
            <a:ext cx="288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C4033"/>
                </a:solidFill>
                <a:latin typeface="Arial"/>
              </a:rPr>
              <a:t>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232000" y="4212000"/>
            <a:ext cx="8352000" cy="324000"/>
          </a:xfrm>
          <a:prstGeom prst="roundRect">
            <a:avLst/>
          </a:prstGeom>
          <a:solidFill>
            <a:srgbClr val="E8C547"/>
          </a:solidFill>
          <a:ln w="19050"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268000" y="4266000"/>
            <a:ext cx="8280000" cy="25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3D2E24"/>
                </a:solidFill>
                <a:latin typeface="Arial"/>
              </a:rPr>
              <a:t>Growth SGD 50/mo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80000" y="4428000"/>
            <a:ext cx="288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C4033"/>
                </a:solidFill>
                <a:latin typeface="Arial"/>
              </a:rPr>
              <a:t>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232000" y="4608000"/>
            <a:ext cx="8352000" cy="324000"/>
          </a:xfrm>
          <a:prstGeom prst="roundRect">
            <a:avLst/>
          </a:prstGeom>
          <a:solidFill>
            <a:srgbClr val="D4C4A8"/>
          </a:solidFill>
          <a:ln w="19050"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268000" y="4662000"/>
            <a:ext cx="8280000" cy="25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3D2E24"/>
                </a:solidFill>
                <a:latin typeface="Arial"/>
              </a:rPr>
              <a:t>Featured SGD 99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80000" y="4824000"/>
            <a:ext cx="288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C4033"/>
                </a:solidFill>
                <a:latin typeface="Arial"/>
              </a:rPr>
              <a:t>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232000" y="5004000"/>
            <a:ext cx="8352000" cy="324000"/>
          </a:xfrm>
          <a:prstGeom prst="roundRect">
            <a:avLst/>
          </a:prstGeom>
          <a:solidFill>
            <a:srgbClr val="D4C4A8"/>
          </a:solidFill>
          <a:ln w="19050"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268000" y="5058000"/>
            <a:ext cx="8280000" cy="25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3D2E24"/>
                </a:solidFill>
                <a:latin typeface="Arial"/>
              </a:rPr>
              <a:t>Ads 7–10% (15% cap)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96000" y="10566972"/>
            <a:ext cx="9216000" cy="2592000"/>
          </a:xfrm>
          <a:prstGeom prst="rect">
            <a:avLst/>
          </a:prstGeom>
          <a:solidFill>
            <a:srgbClr val="E8DCC8"/>
          </a:solidFill>
          <a:ln w="19050"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441200" y="10847322"/>
            <a:ext cx="741600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D2E24"/>
                </a:solidFill>
                <a:latin typeface="Arial Black"/>
              </a:rPr>
              <a:t>WHAT IF HOSTS COULD GET IT ALL IN ONE APP?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41200" y="11423322"/>
            <a:ext cx="7416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5A48"/>
                </a:solidFill>
                <a:latin typeface="Arial"/>
              </a:rPr>
              <a:t>List free · Keep 95% · Plan &amp; book in one place.</a:t>
            </a:r>
          </a:p>
        </p:txBody>
      </p:sp>
      <p:sp>
        <p:nvSpPr>
          <p:cNvPr id="41" name="Oval 40"/>
          <p:cNvSpPr/>
          <p:nvPr/>
        </p:nvSpPr>
        <p:spPr>
          <a:xfrm>
            <a:off x="9653850" y="10919322"/>
            <a:ext cx="648000" cy="648000"/>
          </a:xfrm>
          <a:prstGeom prst="ellipse">
            <a:avLst/>
          </a:prstGeom>
          <a:solidFill>
            <a:srgbClr val="2D6A5A"/>
          </a:solidFill>
          <a:ln w="25400"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685200" y="11063322"/>
            <a:ext cx="64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HS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441200" y="11999322"/>
            <a:ext cx="4356000" cy="1008000"/>
          </a:xfrm>
          <a:prstGeom prst="rect">
            <a:avLst/>
          </a:prstGeom>
          <a:solidFill>
            <a:srgbClr val="D4C4A8"/>
          </a:solidFill>
          <a:ln w="12700"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548000" y="12039147"/>
            <a:ext cx="4212000" cy="252000"/>
          </a:xfrm>
          <a:prstGeom prst="rect">
            <a:avLst/>
          </a:prstGeom>
          <a:solidFill>
            <a:srgbClr val="5C4033"/>
          </a:solidFill>
          <a:ln w="19050"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37013" y="12054972"/>
            <a:ext cx="4212000" cy="25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MISSION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49200" y="12359322"/>
            <a:ext cx="4140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D2E24"/>
                </a:solidFill>
                <a:latin typeface="Arial"/>
              </a:rPr>
              <a:t>Fair host economics + seamless plan → map → book for travellers.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1200" y="11999322"/>
            <a:ext cx="4356000" cy="1008000"/>
          </a:xfrm>
          <a:prstGeom prst="rect">
            <a:avLst/>
          </a:prstGeom>
          <a:solidFill>
            <a:srgbClr val="D4C4A8"/>
          </a:solidFill>
          <a:ln w="12700"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048000" y="12039147"/>
            <a:ext cx="4212000" cy="252000"/>
          </a:xfrm>
          <a:prstGeom prst="rect">
            <a:avLst/>
          </a:prstGeom>
          <a:solidFill>
            <a:srgbClr val="5C4033"/>
          </a:solidFill>
          <a:ln w="19050"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9" name="TextBox 48"/>
          <p:cNvSpPr txBox="1"/>
          <p:nvPr/>
        </p:nvSpPr>
        <p:spPr>
          <a:xfrm>
            <a:off x="5437013" y="12054972"/>
            <a:ext cx="4212000" cy="25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VISION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49200" y="12359322"/>
            <a:ext cx="4140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D2E24"/>
                </a:solidFill>
                <a:latin typeface="Arial"/>
              </a:rPr>
              <a:t>Trusted direct-booking for hidden stays across SEA by 2030.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800000" y="6084000"/>
            <a:ext cx="9216000" cy="2592000"/>
          </a:xfrm>
          <a:prstGeom prst="rect">
            <a:avLst/>
          </a:prstGeom>
          <a:solidFill>
            <a:srgbClr val="E8DCC8"/>
          </a:solidFill>
          <a:ln w="19050"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980000" y="6228000"/>
            <a:ext cx="8856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C4033"/>
                </a:solidFill>
                <a:latin typeface="Arial Black"/>
              </a:rPr>
              <a:t>WHY US?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980000" y="6660000"/>
            <a:ext cx="2592000" cy="432000"/>
          </a:xfrm>
          <a:prstGeom prst="rect">
            <a:avLst/>
          </a:prstGeom>
          <a:solidFill>
            <a:srgbClr val="5B7C99"/>
          </a:solidFill>
          <a:ln w="19050">
            <a:solidFill>
              <a:srgbClr val="5B7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1052000" y="6696000"/>
            <a:ext cx="2448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rial"/>
              </a:rPr>
              <a:t>STRENGTHS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680000" y="6660000"/>
            <a:ext cx="5976000" cy="46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D2E24"/>
                </a:solidFill>
                <a:latin typeface="Arial"/>
              </a:rPr>
              <a:t>5% vs 15–30% OTAs</a:t>
            </a:r>
            <a:br/>
            <a:r>
              <a:t>Free host portal</a:t>
            </a:r>
            <a:br/>
            <a:r>
              <a:t>Planner → book loop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980000" y="7128000"/>
            <a:ext cx="2592000" cy="432000"/>
          </a:xfrm>
          <a:prstGeom prst="rect">
            <a:avLst/>
          </a:prstGeom>
          <a:solidFill>
            <a:srgbClr val="D4A843"/>
          </a:solidFill>
          <a:ln w="190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1052000" y="7164000"/>
            <a:ext cx="2448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rial"/>
              </a:rPr>
              <a:t>WEAKNESSES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3680000" y="7128000"/>
            <a:ext cx="5976000" cy="46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D2E24"/>
                </a:solidFill>
                <a:latin typeface="Arial"/>
              </a:rPr>
              <a:t>Thin unit economics</a:t>
            </a:r>
            <a:br/>
            <a:r>
              <a:t>New brand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980000" y="7596000"/>
            <a:ext cx="2592000" cy="432000"/>
          </a:xfrm>
          <a:prstGeom prst="rect">
            <a:avLst/>
          </a:prstGeom>
          <a:solidFill>
            <a:srgbClr val="D4845B"/>
          </a:solidFill>
          <a:ln w="19050">
            <a:solidFill>
              <a:srgbClr val="D4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1052000" y="7632000"/>
            <a:ext cx="2448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rial"/>
              </a:rPr>
              <a:t>OPPORTUNITIES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3680000" y="7596000"/>
            <a:ext cx="5976000" cy="46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D2E24"/>
                </a:solidFill>
                <a:latin typeface="Arial"/>
              </a:rPr>
              <a:t>SEA homestay supply</a:t>
            </a:r>
            <a:br/>
            <a:r>
              <a:t>SEO + planner content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980000" y="8064000"/>
            <a:ext cx="2592000" cy="432000"/>
          </a:xfrm>
          <a:prstGeom prst="rect">
            <a:avLst/>
          </a:prstGeom>
          <a:solidFill>
            <a:srgbClr val="8B6B9E"/>
          </a:solidFill>
          <a:ln w="19050">
            <a:solidFill>
              <a:srgbClr val="8B6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1052000" y="8100000"/>
            <a:ext cx="2448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rial"/>
              </a:rPr>
              <a:t>THREATS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3680000" y="8064000"/>
            <a:ext cx="5976000" cy="46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D2E24"/>
                </a:solidFill>
                <a:latin typeface="Arial"/>
              </a:rPr>
              <a:t>OTA dominance</a:t>
            </a:r>
            <a:br/>
            <a:r>
              <a:t>Guest discovery cost</a:t>
            </a:r>
          </a:p>
        </p:txBody>
      </p:sp>
      <p:sp>
        <p:nvSpPr>
          <p:cNvPr id="65" name="Oval 64"/>
          <p:cNvSpPr/>
          <p:nvPr/>
        </p:nvSpPr>
        <p:spPr>
          <a:xfrm>
            <a:off x="19008000" y="6660000"/>
            <a:ext cx="252000" cy="252000"/>
          </a:xfrm>
          <a:prstGeom prst="ellipse">
            <a:avLst/>
          </a:prstGeom>
          <a:solidFill>
            <a:srgbClr val="5C4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9008000" y="6678000"/>
            <a:ext cx="252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9332000" y="6660000"/>
            <a:ext cx="648000" cy="25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B5A48"/>
                </a:solidFill>
                <a:latin typeface="Arial"/>
              </a:rPr>
              <a:t>Host keeps 95%</a:t>
            </a:r>
          </a:p>
        </p:txBody>
      </p:sp>
      <p:sp>
        <p:nvSpPr>
          <p:cNvPr id="68" name="Oval 67"/>
          <p:cNvSpPr/>
          <p:nvPr/>
        </p:nvSpPr>
        <p:spPr>
          <a:xfrm>
            <a:off x="19008000" y="6930000"/>
            <a:ext cx="252000" cy="252000"/>
          </a:xfrm>
          <a:prstGeom prst="ellipse">
            <a:avLst/>
          </a:prstGeom>
          <a:solidFill>
            <a:srgbClr val="5C4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9008000" y="6948000"/>
            <a:ext cx="252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I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9332000" y="6930000"/>
            <a:ext cx="648000" cy="25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B5A48"/>
                </a:solidFill>
                <a:latin typeface="Arial"/>
              </a:rPr>
              <a:t>Independent stays</a:t>
            </a:r>
          </a:p>
        </p:txBody>
      </p:sp>
      <p:sp>
        <p:nvSpPr>
          <p:cNvPr id="71" name="Oval 70"/>
          <p:cNvSpPr/>
          <p:nvPr/>
        </p:nvSpPr>
        <p:spPr>
          <a:xfrm>
            <a:off x="19008000" y="7200000"/>
            <a:ext cx="252000" cy="252000"/>
          </a:xfrm>
          <a:prstGeom prst="ellipse">
            <a:avLst/>
          </a:prstGeom>
          <a:solidFill>
            <a:srgbClr val="5C4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9008000" y="7218000"/>
            <a:ext cx="252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9332000" y="7200000"/>
            <a:ext cx="648000" cy="25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B5A48"/>
                </a:solidFill>
                <a:latin typeface="Arial"/>
              </a:rPr>
              <a:t>Direct booking</a:t>
            </a:r>
          </a:p>
        </p:txBody>
      </p:sp>
      <p:sp>
        <p:nvSpPr>
          <p:cNvPr id="74" name="Oval 73"/>
          <p:cNvSpPr/>
          <p:nvPr/>
        </p:nvSpPr>
        <p:spPr>
          <a:xfrm>
            <a:off x="19008000" y="7470000"/>
            <a:ext cx="252000" cy="252000"/>
          </a:xfrm>
          <a:prstGeom prst="ellipse">
            <a:avLst/>
          </a:prstGeom>
          <a:solidFill>
            <a:srgbClr val="5C4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19008000" y="7488000"/>
            <a:ext cx="252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9332000" y="7470000"/>
            <a:ext cx="648000" cy="25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B5A48"/>
                </a:solidFill>
                <a:latin typeface="Arial"/>
              </a:rPr>
              <a:t>Discovery map</a:t>
            </a:r>
          </a:p>
        </p:txBody>
      </p:sp>
      <p:sp>
        <p:nvSpPr>
          <p:cNvPr id="77" name="Oval 76"/>
          <p:cNvSpPr/>
          <p:nvPr/>
        </p:nvSpPr>
        <p:spPr>
          <a:xfrm>
            <a:off x="19008000" y="7740000"/>
            <a:ext cx="252000" cy="252000"/>
          </a:xfrm>
          <a:prstGeom prst="ellipse">
            <a:avLst/>
          </a:prstGeom>
          <a:solidFill>
            <a:srgbClr val="5C4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9008000" y="7758000"/>
            <a:ext cx="252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</a:t>
            </a:r>
          </a:p>
        </p:txBody>
      </p:sp>
      <p:sp>
        <p:nvSpPr>
          <p:cNvPr id="79" name="Oval 78"/>
          <p:cNvSpPr/>
          <p:nvPr/>
        </p:nvSpPr>
        <p:spPr>
          <a:xfrm>
            <a:off x="19008000" y="8010000"/>
            <a:ext cx="252000" cy="252000"/>
          </a:xfrm>
          <a:prstGeom prst="ellipse">
            <a:avLst/>
          </a:prstGeom>
          <a:solidFill>
            <a:srgbClr val="5C4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9008000" y="8028000"/>
            <a:ext cx="252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N</a:t>
            </a:r>
          </a:p>
        </p:txBody>
      </p:sp>
      <p:sp>
        <p:nvSpPr>
          <p:cNvPr id="81" name="Oval 80"/>
          <p:cNvSpPr/>
          <p:nvPr/>
        </p:nvSpPr>
        <p:spPr>
          <a:xfrm>
            <a:off x="19008000" y="8280000"/>
            <a:ext cx="252000" cy="252000"/>
          </a:xfrm>
          <a:prstGeom prst="ellipse">
            <a:avLst/>
          </a:prstGeom>
          <a:solidFill>
            <a:srgbClr val="5C4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9008000" y="8298000"/>
            <a:ext cx="252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sp>
        <p:nvSpPr>
          <p:cNvPr id="83" name="Oval 82"/>
          <p:cNvSpPr/>
          <p:nvPr/>
        </p:nvSpPr>
        <p:spPr>
          <a:xfrm>
            <a:off x="19008000" y="8550000"/>
            <a:ext cx="252000" cy="252000"/>
          </a:xfrm>
          <a:prstGeom prst="ellipse">
            <a:avLst/>
          </a:prstGeom>
          <a:solidFill>
            <a:srgbClr val="5C4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9008000" y="8568000"/>
            <a:ext cx="252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144800" y="13306562"/>
            <a:ext cx="9403200" cy="14940000"/>
          </a:xfrm>
          <a:prstGeom prst="rect">
            <a:avLst/>
          </a:prstGeom>
          <a:solidFill>
            <a:srgbClr val="D4C4A8"/>
          </a:solidFill>
          <a:ln w="19050"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6" name="Rounded Rectangle 85"/>
          <p:cNvSpPr/>
          <p:nvPr/>
        </p:nvSpPr>
        <p:spPr>
          <a:xfrm>
            <a:off x="4068000" y="15138000"/>
            <a:ext cx="1368000" cy="2448000"/>
          </a:xfrm>
          <a:prstGeom prst="roundRect">
            <a:avLst/>
          </a:prstGeom>
          <a:solidFill>
            <a:srgbClr val="3D2E24"/>
          </a:solidFill>
          <a:ln w="25400"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4068000" y="15210000"/>
            <a:ext cx="1368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AI PLANNER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140000" y="15462000"/>
            <a:ext cx="1224000" cy="2052000"/>
          </a:xfrm>
          <a:prstGeom prst="rect">
            <a:avLst/>
          </a:prstGeom>
          <a:solidFill>
            <a:srgbClr val="0F2A3A"/>
          </a:solidFill>
          <a:ln w="6350">
            <a:solidFill>
              <a:srgbClr val="1A3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4176000" y="15534000"/>
            <a:ext cx="1152000" cy="194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A8E6CF"/>
                </a:solidFill>
                <a:latin typeface="Arial"/>
              </a:rPr>
              <a:t>Day 1 · Chiang Mai</a:t>
            </a:r>
            <a:br/>
            <a:r>
              <a:t>● Old town</a:t>
            </a:r>
            <a:br/>
            <a:r>
              <a:t>● Homestay</a:t>
            </a:r>
            <a:br/>
            <a:r>
              <a:t>Day 2 · Countryside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652000" y="15138000"/>
            <a:ext cx="1368000" cy="2448000"/>
          </a:xfrm>
          <a:prstGeom prst="roundRect">
            <a:avLst/>
          </a:prstGeom>
          <a:solidFill>
            <a:srgbClr val="3D2E24"/>
          </a:solidFill>
          <a:ln w="25400"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5652000" y="15210000"/>
            <a:ext cx="1368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MAP + BOOK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724000" y="15462000"/>
            <a:ext cx="1224000" cy="2052000"/>
          </a:xfrm>
          <a:prstGeom prst="rect">
            <a:avLst/>
          </a:prstGeom>
          <a:solidFill>
            <a:srgbClr val="0F2A3A"/>
          </a:solidFill>
          <a:ln w="6350">
            <a:solidFill>
              <a:srgbClr val="1A3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5760000" y="15534000"/>
            <a:ext cx="1152000" cy="194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A8E6CF"/>
                </a:solidFill>
                <a:latin typeface="Arial"/>
              </a:rPr>
              <a:t>[ MAP VIEW ]</a:t>
            </a:r>
            <a:br/>
            <a:r>
              <a:t>● Stay A  SGD 50/n</a:t>
            </a:r>
            <a:br/>
            <a:r>
              <a:t>● Stay B  SGD 45/n</a:t>
            </a:r>
            <a:br/>
            <a:r>
              <a:t>→ Book now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236000" y="15138000"/>
            <a:ext cx="1368000" cy="2448000"/>
          </a:xfrm>
          <a:prstGeom prst="roundRect">
            <a:avLst/>
          </a:prstGeom>
          <a:solidFill>
            <a:srgbClr val="3D2E24"/>
          </a:solidFill>
          <a:ln w="25400"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7236000" y="15210000"/>
            <a:ext cx="1368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HOST PORTAL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308000" y="15462000"/>
            <a:ext cx="1224000" cy="2052000"/>
          </a:xfrm>
          <a:prstGeom prst="rect">
            <a:avLst/>
          </a:prstGeom>
          <a:solidFill>
            <a:srgbClr val="0F2A3A"/>
          </a:solidFill>
          <a:ln w="6350">
            <a:solidFill>
              <a:srgbClr val="1A3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7344000" y="15534000"/>
            <a:ext cx="1152000" cy="194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A8E6CF"/>
                </a:solidFill>
                <a:latin typeface="Arial"/>
              </a:rPr>
              <a:t>EARNINGS</a:t>
            </a:r>
            <a:br/>
            <a:r>
              <a:t>Available  SGD 285</a:t>
            </a:r>
            <a:br/>
            <a:r>
              <a:t>Pending    SGD 95</a:t>
            </a:r>
            <a:br/>
            <a:r>
              <a:t>5% fee · 95% yours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656000" y="12700000"/>
            <a:ext cx="9180000" cy="15595213"/>
          </a:xfrm>
          <a:prstGeom prst="rect">
            <a:avLst/>
          </a:prstGeom>
          <a:solidFill>
            <a:srgbClr val="E8DCC8"/>
          </a:solidFill>
          <a:ln w="19050"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11088000" y="12908322"/>
            <a:ext cx="820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dirty="0">
                <a:solidFill>
                  <a:srgbClr val="5C4033"/>
                </a:solidFill>
                <a:latin typeface="Arial Black"/>
              </a:rPr>
              <a:t>FEATURES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1052000" y="13647279"/>
            <a:ext cx="8208000" cy="1985142"/>
          </a:xfrm>
          <a:prstGeom prst="rect">
            <a:avLst/>
          </a:prstGeom>
          <a:solidFill>
            <a:srgbClr val="D4C4A8"/>
          </a:solidFill>
          <a:ln w="12700"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2" name="Oval 101"/>
          <p:cNvSpPr/>
          <p:nvPr/>
        </p:nvSpPr>
        <p:spPr>
          <a:xfrm>
            <a:off x="11160000" y="13728906"/>
            <a:ext cx="288000" cy="288000"/>
          </a:xfrm>
          <a:prstGeom prst="ellipse">
            <a:avLst/>
          </a:prstGeom>
          <a:solidFill>
            <a:srgbClr val="5C4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11160000" y="13728906"/>
            <a:ext cx="288000" cy="25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448000" y="13728906"/>
            <a:ext cx="7704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3D2E24"/>
                </a:solidFill>
                <a:latin typeface="Arial"/>
              </a:rPr>
              <a:t>5% MARKETPLACE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1052000" y="15722421"/>
            <a:ext cx="8208000" cy="1985142"/>
          </a:xfrm>
          <a:prstGeom prst="rect">
            <a:avLst/>
          </a:prstGeom>
          <a:solidFill>
            <a:srgbClr val="D4C4A8"/>
          </a:solidFill>
          <a:ln w="12700"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11160000" y="15804049"/>
            <a:ext cx="288000" cy="288000"/>
          </a:xfrm>
          <a:prstGeom prst="ellipse">
            <a:avLst/>
          </a:prstGeom>
          <a:solidFill>
            <a:srgbClr val="5C4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11160000" y="15804049"/>
            <a:ext cx="288000" cy="25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1448000" y="15804049"/>
            <a:ext cx="7704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D2E24"/>
                </a:solidFill>
                <a:latin typeface="Arial"/>
              </a:rPr>
              <a:t>AI PLANNER + MAP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1052000" y="17797564"/>
            <a:ext cx="8208000" cy="1985142"/>
          </a:xfrm>
          <a:prstGeom prst="rect">
            <a:avLst/>
          </a:prstGeom>
          <a:solidFill>
            <a:srgbClr val="D4C4A8"/>
          </a:solidFill>
          <a:ln w="12700"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11160000" y="17879192"/>
            <a:ext cx="288000" cy="288000"/>
          </a:xfrm>
          <a:prstGeom prst="ellipse">
            <a:avLst/>
          </a:prstGeom>
          <a:solidFill>
            <a:srgbClr val="5C4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11160000" y="17879192"/>
            <a:ext cx="288000" cy="25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1448000" y="17879192"/>
            <a:ext cx="7704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D2E24"/>
                </a:solidFill>
                <a:latin typeface="Arial"/>
              </a:rPr>
              <a:t>PLAN → BOOK FLOW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1052000" y="19922849"/>
            <a:ext cx="8208000" cy="1985142"/>
          </a:xfrm>
          <a:prstGeom prst="rect">
            <a:avLst/>
          </a:prstGeom>
          <a:solidFill>
            <a:srgbClr val="D4C4A8"/>
          </a:solidFill>
          <a:ln w="12700"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11160000" y="19954335"/>
            <a:ext cx="288000" cy="288000"/>
          </a:xfrm>
          <a:prstGeom prst="ellipse">
            <a:avLst/>
          </a:prstGeom>
          <a:solidFill>
            <a:srgbClr val="5C4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11160000" y="19954335"/>
            <a:ext cx="288000" cy="25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2024000" y="19904193"/>
            <a:ext cx="7704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D2E24"/>
                </a:solidFill>
                <a:latin typeface="Arial"/>
              </a:rPr>
              <a:t>FREE HOST PORTAL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1052000" y="21947850"/>
            <a:ext cx="8208000" cy="1985142"/>
          </a:xfrm>
          <a:prstGeom prst="rect">
            <a:avLst/>
          </a:prstGeom>
          <a:solidFill>
            <a:srgbClr val="D4C4A8"/>
          </a:solidFill>
          <a:ln w="12700"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Oval 117"/>
          <p:cNvSpPr/>
          <p:nvPr/>
        </p:nvSpPr>
        <p:spPr>
          <a:xfrm>
            <a:off x="11160000" y="22029477"/>
            <a:ext cx="288000" cy="288000"/>
          </a:xfrm>
          <a:prstGeom prst="ellipse">
            <a:avLst/>
          </a:prstGeom>
          <a:solidFill>
            <a:srgbClr val="5C4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11160000" y="22029477"/>
            <a:ext cx="288000" cy="25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1448000" y="22029477"/>
            <a:ext cx="7704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D2E24"/>
                </a:solidFill>
                <a:latin typeface="Arial"/>
              </a:rPr>
              <a:t>GROWTH TOOLS (SEO)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1052000" y="24022993"/>
            <a:ext cx="8208000" cy="1985142"/>
          </a:xfrm>
          <a:prstGeom prst="rect">
            <a:avLst/>
          </a:prstGeom>
          <a:solidFill>
            <a:srgbClr val="D4C4A8"/>
          </a:solidFill>
          <a:ln w="12700"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11160000" y="24104620"/>
            <a:ext cx="288000" cy="288000"/>
          </a:xfrm>
          <a:prstGeom prst="ellipse">
            <a:avLst/>
          </a:prstGeom>
          <a:solidFill>
            <a:srgbClr val="5C4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11160000" y="24104620"/>
            <a:ext cx="2880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/>
              </a:rPr>
              <a:t>7</a:t>
            </a:r>
            <a:endParaRPr sz="11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11448000" y="24104620"/>
            <a:ext cx="7704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D2E24"/>
                </a:solidFill>
                <a:latin typeface="Arial"/>
              </a:rPr>
              <a:t>MULTI-NIGHT TRIPS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1052000" y="26098136"/>
            <a:ext cx="8208000" cy="1985142"/>
          </a:xfrm>
          <a:prstGeom prst="rect">
            <a:avLst/>
          </a:prstGeom>
          <a:solidFill>
            <a:srgbClr val="D4C4A8"/>
          </a:solidFill>
          <a:ln w="12700"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11160000" y="26149398"/>
            <a:ext cx="288000" cy="288000"/>
          </a:xfrm>
          <a:prstGeom prst="ellipse">
            <a:avLst/>
          </a:prstGeom>
          <a:solidFill>
            <a:srgbClr val="5C4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11160000" y="26185248"/>
            <a:ext cx="2880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/>
              </a:rPr>
              <a:t>8</a:t>
            </a:r>
            <a:endParaRPr sz="11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11448000" y="26179763"/>
            <a:ext cx="7704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D2E24"/>
                </a:solidFill>
                <a:latin typeface="Arial"/>
              </a:rPr>
              <a:t>18-MO SURVIVAL PLAN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476000" y="28907213"/>
            <a:ext cx="18648000" cy="36000"/>
          </a:xfrm>
          <a:prstGeom prst="rect">
            <a:avLst/>
          </a:prstGeom>
          <a:solidFill>
            <a:srgbClr val="5C4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1368000" y="29271858"/>
            <a:ext cx="9324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6B5A48"/>
                </a:solidFill>
                <a:latin typeface="Arial"/>
              </a:rPr>
              <a:t>Group 63 I — Zaw Latt Naung · Oakkar Phyoe · Eka Dian Tara Tiu · </a:t>
            </a:r>
            <a:r>
              <a:rPr sz="1100" b="0" dirty="0" err="1">
                <a:solidFill>
                  <a:srgbClr val="6B5A48"/>
                </a:solidFill>
                <a:latin typeface="Arial"/>
              </a:rPr>
              <a:t>Chenyang</a:t>
            </a:r>
            <a:r>
              <a:rPr sz="1100" b="0" dirty="0">
                <a:solidFill>
                  <a:srgbClr val="6B5A48"/>
                </a:solidFill>
                <a:latin typeface="Arial"/>
              </a:rPr>
              <a:t> Gu · Yihua Deng</a:t>
            </a:r>
            <a:br>
              <a:rPr dirty="0"/>
            </a:br>
            <a:r>
              <a:rPr dirty="0"/>
              <a:t>BU3102 / CP3102 Capstone · James Cook University Singapore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008000" y="29236572"/>
            <a:ext cx="9324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5C4033"/>
                </a:solidFill>
                <a:latin typeface="Arial"/>
              </a:rPr>
              <a:t>Break-even Month 18 · 55 hosts · 92 bookings/mo</a:t>
            </a:r>
            <a:br/>
            <a:r>
              <a:t>hiddenstay.app (pilot)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378</Words>
  <Application>Microsoft Office PowerPoint</Application>
  <PresentationFormat>Custom</PresentationFormat>
  <Paragraphs>75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Black</vt:lpstr>
      <vt:lpstr>Calibri</vt:lpstr>
      <vt:lpstr>Times New Roman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virus user</cp:lastModifiedBy>
  <cp:revision>2</cp:revision>
  <dcterms:created xsi:type="dcterms:W3CDTF">2013-01-27T09:14:16Z</dcterms:created>
  <dcterms:modified xsi:type="dcterms:W3CDTF">2026-07-14T03:12:26Z</dcterms:modified>
  <cp:category/>
</cp:coreProperties>
</file>