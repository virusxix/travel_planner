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wmf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21383625" cy="30275213"/>
  <p:notesSz cx="6858000" cy="9144000"/>
  <p:defaultTextStyle>
    <a:defPPr>
      <a:defRPr lang="en-US"/>
    </a:defPPr>
    <a:lvl1pPr algn="l" defTabSz="247808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1238250" indent="-781050" algn="l" defTabSz="247808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2478088" indent="-1563688" algn="l" defTabSz="247808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3717925" indent="-2346325" algn="l" defTabSz="247808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4957763" indent="-3128963" algn="l" defTabSz="247808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5"/>
  </p:normalViewPr>
  <p:slideViewPr>
    <p:cSldViewPr snapToGrid="0" snapToObjects="1">
      <p:cViewPr varScale="1">
        <p:scale>
          <a:sx n="18" d="100"/>
          <a:sy n="18" d="100"/>
        </p:scale>
        <p:origin x="-2630" y="-77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2479578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2479578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5C1B473-9BCD-4417-AC12-E396A790907B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2479578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2479578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E4862BC-3FA4-4675-A4FF-96A15BBA51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478088" rtl="0" eaLnBrk="0" fontAlgn="base" hangingPunct="0">
      <a:spcBef>
        <a:spcPct val="30000"/>
      </a:spcBef>
      <a:spcAft>
        <a:spcPct val="0"/>
      </a:spcAft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1238250" algn="l" defTabSz="2478088" rtl="0" eaLnBrk="0" fontAlgn="base" hangingPunct="0">
      <a:spcBef>
        <a:spcPct val="30000"/>
      </a:spcBef>
      <a:spcAft>
        <a:spcPct val="0"/>
      </a:spcAft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2478088" algn="l" defTabSz="2478088" rtl="0" eaLnBrk="0" fontAlgn="base" hangingPunct="0">
      <a:spcBef>
        <a:spcPct val="30000"/>
      </a:spcBef>
      <a:spcAft>
        <a:spcPct val="0"/>
      </a:spcAft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3717925" algn="l" defTabSz="2478088" rtl="0" eaLnBrk="0" fontAlgn="base" hangingPunct="0">
      <a:spcBef>
        <a:spcPct val="30000"/>
      </a:spcBef>
      <a:spcAft>
        <a:spcPct val="0"/>
      </a:spcAft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4957763" algn="l" defTabSz="2478088" rtl="0" eaLnBrk="0" fontAlgn="base" hangingPunct="0">
      <a:spcBef>
        <a:spcPct val="30000"/>
      </a:spcBef>
      <a:spcAft>
        <a:spcPct val="0"/>
      </a:spcAft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247957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54" dirty="0"/>
              <a:t>29.7-27.16</a:t>
            </a:r>
          </a:p>
          <a:p>
            <a:pPr defTabSz="247957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54" dirty="0"/>
          </a:p>
          <a:p>
            <a:pPr defTabSz="247957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54"/>
              <a:t>42.05-39.68</a:t>
            </a: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2478088" fontAlgn="base">
              <a:spcBef>
                <a:spcPct val="0"/>
              </a:spcBef>
              <a:spcAft>
                <a:spcPct val="0"/>
              </a:spcAft>
              <a:defRPr/>
            </a:pPr>
            <a:fld id="{C70054C6-B7E2-4B09-800A-BA5B0A642BEF}" type="slidenum">
              <a:rPr lang="en-US">
                <a:cs typeface="Arial" charset="0"/>
              </a:rPr>
              <a:pPr defTabSz="2478088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3F2F8-3B0C-4939-99B5-263F161911DF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588CF-FD86-432B-B490-94B3A53F3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26CA2-C230-4E1C-9089-99FD5652C131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16E84-6784-4903-82FE-0544B9ABD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559F-B65B-4AFD-A8ED-DADF814D4430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32577-92FF-4748-8AEF-3BD11950D4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1CBF2-2880-4AEA-846F-AB2BD1F4B18F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42D60-599E-40E2-BA15-77F9AC2BA6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7E98A-5571-4F5B-9328-D02FEB270508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5C942-280B-49B5-8577-117AB7AD4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F5F6A-6159-494B-A4FE-5C7942E9C7FB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20ACD0-6057-4592-879D-2A7749F644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04F3B-8EB0-4DFD-AF6C-13BA077AF1D8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204D3-80FD-4DA4-9783-FA549469E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7C597-76C5-4559-88CB-BDFF69AB9AD8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C296C-4CE2-4061-88D5-426F7EDD4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rtlCol="0">
            <a:normAutofit/>
          </a:bodyPr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B9552-A7D2-4565-B642-C6B921CF1366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6BA8D-2218-4F62-ACD7-DD882D73D7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60B96-9999-48A3-A7F0-62B0C11A0E1B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8026F-BAA4-4871-9AD1-365CD2D88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36F16-FF28-45BB-B39B-328496A3ECAB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123B0-3C84-49CF-9FE0-61CF35C1BE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470025" y="1611313"/>
            <a:ext cx="18443575" cy="585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70025" y="8059738"/>
            <a:ext cx="18443575" cy="1920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025" y="28060650"/>
            <a:ext cx="4811713" cy="1611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479578" fontAlgn="auto">
              <a:spcBef>
                <a:spcPts val="0"/>
              </a:spcBef>
              <a:spcAft>
                <a:spcPts val="0"/>
              </a:spcAft>
              <a:defRPr sz="2806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F40B47-5276-42AD-9F6D-5700408059C0}" type="datetimeFigureOut">
              <a:rPr lang="en-US"/>
              <a:pPr>
                <a:defRPr/>
              </a:pPr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425" y="28060650"/>
            <a:ext cx="7216775" cy="1611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2479578" fontAlgn="auto">
              <a:spcBef>
                <a:spcPts val="0"/>
              </a:spcBef>
              <a:spcAft>
                <a:spcPts val="0"/>
              </a:spcAft>
              <a:defRPr sz="2806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1888" y="28060650"/>
            <a:ext cx="4811712" cy="1611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479578" fontAlgn="auto">
              <a:spcBef>
                <a:spcPts val="0"/>
              </a:spcBef>
              <a:spcAft>
                <a:spcPts val="0"/>
              </a:spcAft>
              <a:defRPr sz="2806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F30EF25-09F1-4698-97BF-A7E210736A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21367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21367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2pPr>
      <a:lvl3pPr algn="l" defTabSz="21367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3pPr>
      <a:lvl4pPr algn="l" defTabSz="21367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4pPr>
      <a:lvl5pPr algn="l" defTabSz="21367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5pPr>
      <a:lvl6pPr marL="457200" algn="l" defTabSz="2136775" rtl="0" fontAlgn="base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6pPr>
      <a:lvl7pPr marL="914400" algn="l" defTabSz="2136775" rtl="0" fontAlgn="base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7pPr>
      <a:lvl8pPr marL="1371600" algn="l" defTabSz="2136775" rtl="0" fontAlgn="base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8pPr>
      <a:lvl9pPr marL="1828800" algn="l" defTabSz="2136775" rtl="0" fontAlgn="base">
        <a:lnSpc>
          <a:spcPct val="90000"/>
        </a:lnSpc>
        <a:spcBef>
          <a:spcPct val="0"/>
        </a:spcBef>
        <a:spcAft>
          <a:spcPct val="0"/>
        </a:spcAft>
        <a:defRPr sz="10200">
          <a:solidFill>
            <a:schemeClr val="tx1"/>
          </a:solidFill>
          <a:latin typeface="Calibri Light" pitchFamily="34" charset="0"/>
        </a:defRPr>
      </a:lvl9pPr>
    </p:titleStyle>
    <p:bodyStyle>
      <a:lvl1pPr marL="533400" indent="-533400" algn="l" defTabSz="2136775" rtl="0" eaLnBrk="0" fontAlgn="base" hangingPunct="0">
        <a:lnSpc>
          <a:spcPct val="90000"/>
        </a:lnSpc>
        <a:spcBef>
          <a:spcPts val="2338"/>
        </a:spcBef>
        <a:spcAft>
          <a:spcPct val="0"/>
        </a:spcAft>
        <a:buFont typeface="Arial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1pPr>
      <a:lvl2pPr marL="1603375" indent="-533400" algn="l" defTabSz="2136775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671763" indent="-533400" algn="l" defTabSz="2136775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3pPr>
      <a:lvl4pPr marL="3741738" indent="-533400" algn="l" defTabSz="2136775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4pPr>
      <a:lvl5pPr marL="4810125" indent="-533400" algn="l" defTabSz="2136775" rtl="0" eaLnBrk="0" fontAlgn="base" hangingPunct="0">
        <a:lnSpc>
          <a:spcPct val="90000"/>
        </a:lnSpc>
        <a:spcBef>
          <a:spcPts val="1175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960438"/>
            <a:ext cx="19562763" cy="28419425"/>
          </a:xfrm>
          <a:prstGeom prst="rect">
            <a:avLst/>
          </a:prstGeom>
          <a:solidFill>
            <a:srgbClr val="F5EDE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47957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881"/>
          </a:p>
        </p:txBody>
      </p:sp>
      <p:sp>
        <p:nvSpPr>
          <p:cNvPr id="14338" name="TextBox 9"/>
          <p:cNvSpPr txBox="1">
            <a:spLocks noChangeArrowheads="1"/>
          </p:cNvSpPr>
          <p:nvPr/>
        </p:nvSpPr>
        <p:spPr bwMode="auto">
          <a:xfrm>
            <a:off x="3760788" y="1630363"/>
            <a:ext cx="10606087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sz="6000" b="1">
                <a:solidFill>
                  <a:srgbClr val="5C4033"/>
                </a:solidFill>
                <a:latin typeface="Times New Roman"/>
              </a:rPr>
              <a:t>HiddenStay</a:t>
            </a:r>
          </a:p>
          <a:p>
            <a:pPr algn="ctr"/>
            <a:r>
              <a:rPr sz="1600" b="1">
                <a:solidFill>
                  <a:srgbClr val="6B5A48"/>
                </a:solidFill>
                <a:latin typeface="Calibri"/>
              </a:rPr>
              <a:t>Fair commission homestays + AI trip planner · Southeast Asia</a:t>
            </a:r>
          </a:p>
        </p:txBody>
      </p:sp>
      <p:sp>
        <p:nvSpPr>
          <p:cNvPr id="14339" name="TextBox 11"/>
          <p:cNvSpPr txBox="1">
            <a:spLocks noChangeArrowheads="1"/>
          </p:cNvSpPr>
          <p:nvPr/>
        </p:nvSpPr>
        <p:spPr bwMode="auto">
          <a:xfrm>
            <a:off x="1047750" y="29013150"/>
            <a:ext cx="192087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sz="1000">
                <a:solidFill>
                  <a:srgbClr val="6B5A48"/>
                </a:solidFill>
                <a:latin typeface="Calibri"/>
              </a:rPr>
              <a:t>Group 63 I — Zaw Latt Naung · Oakkar Phyoe · Eka Dian Tara Tiu · Chenyang Gu · Yihua Deng  |  BU3102 / CP3102 Capstone · JCUS  |  Break-even Month 18 · 55 hosts · 92 bookings/mo  |  hiddenstay.app</a:t>
            </a:r>
          </a:p>
        </p:txBody>
      </p:sp>
      <p:pic>
        <p:nvPicPr>
          <p:cNvPr id="14341" name="Picture 8" descr="EDLOGO NE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808075" y="1255713"/>
            <a:ext cx="6411913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Picture 8" descr="MDP38TH OFFICIAL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9763" y="1630363"/>
            <a:ext cx="2720975" cy="2720975"/>
          </a:xfrm>
          <a:prstGeom prst="rect">
            <a:avLst/>
          </a:prstGeom>
          <a:noFill/>
        </p:spPr>
      </p:pic>
      <p:sp>
        <p:nvSpPr>
          <p:cNvPr id="14345" name="Rounded Rectangle 14344"/>
          <p:cNvSpPr/>
          <p:nvPr/>
        </p:nvSpPr>
        <p:spPr>
          <a:xfrm>
            <a:off x="1371600" y="5074920"/>
            <a:ext cx="8776020" cy="306324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6" name="TextBox 14345"/>
          <p:cNvSpPr txBox="1"/>
          <p:nvPr/>
        </p:nvSpPr>
        <p:spPr>
          <a:xfrm>
            <a:off x="1554480" y="5212080"/>
            <a:ext cx="84102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C4033"/>
                </a:solidFill>
                <a:latin typeface="Arial Black"/>
              </a:rPr>
              <a:t>THE ISSUE</a:t>
            </a:r>
          </a:p>
        </p:txBody>
      </p:sp>
      <p:sp>
        <p:nvSpPr>
          <p:cNvPr id="14347" name="TextBox 14346"/>
          <p:cNvSpPr txBox="1"/>
          <p:nvPr/>
        </p:nvSpPr>
        <p:spPr>
          <a:xfrm>
            <a:off x="1554480" y="5577840"/>
            <a:ext cx="84102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D2E24"/>
                </a:solidFill>
                <a:latin typeface="Calibri"/>
              </a:rPr>
              <a:t>Independent homestays lose 15–30% per booking to OTAs. Travellers plan on Google and book on different apps.</a:t>
            </a:r>
          </a:p>
        </p:txBody>
      </p:sp>
      <p:sp>
        <p:nvSpPr>
          <p:cNvPr id="14348" name="Rounded Rectangle 14347"/>
          <p:cNvSpPr/>
          <p:nvPr/>
        </p:nvSpPr>
        <p:spPr>
          <a:xfrm>
            <a:off x="1554480" y="6355080"/>
            <a:ext cx="2742460" cy="132588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9" name="TextBox 14348"/>
          <p:cNvSpPr txBox="1"/>
          <p:nvPr/>
        </p:nvSpPr>
        <p:spPr>
          <a:xfrm>
            <a:off x="1554480" y="6446520"/>
            <a:ext cx="27424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8B3A2A"/>
                </a:solidFill>
                <a:latin typeface="Arial Black"/>
              </a:rPr>
              <a:t>15–30%</a:t>
            </a:r>
          </a:p>
        </p:txBody>
      </p:sp>
      <p:sp>
        <p:nvSpPr>
          <p:cNvPr id="14350" name="TextBox 14349"/>
          <p:cNvSpPr txBox="1"/>
          <p:nvPr/>
        </p:nvSpPr>
        <p:spPr>
          <a:xfrm>
            <a:off x="1554480" y="7223760"/>
            <a:ext cx="27424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6B5A48"/>
                </a:solidFill>
                <a:latin typeface="Calibri"/>
              </a:rPr>
              <a:t>OTA FEE TODAY</a:t>
            </a:r>
          </a:p>
        </p:txBody>
      </p:sp>
      <p:sp>
        <p:nvSpPr>
          <p:cNvPr id="14351" name="Rounded Rectangle 14350"/>
          <p:cNvSpPr/>
          <p:nvPr/>
        </p:nvSpPr>
        <p:spPr>
          <a:xfrm>
            <a:off x="4388380" y="6355080"/>
            <a:ext cx="2742460" cy="132588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2" name="TextBox 14351"/>
          <p:cNvSpPr txBox="1"/>
          <p:nvPr/>
        </p:nvSpPr>
        <p:spPr>
          <a:xfrm>
            <a:off x="4388380" y="6446520"/>
            <a:ext cx="27424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8B3A2A"/>
                </a:solidFill>
                <a:latin typeface="Arial Black"/>
              </a:rPr>
              <a:t>5%</a:t>
            </a:r>
          </a:p>
        </p:txBody>
      </p:sp>
      <p:sp>
        <p:nvSpPr>
          <p:cNvPr id="14353" name="TextBox 14352"/>
          <p:cNvSpPr txBox="1"/>
          <p:nvPr/>
        </p:nvSpPr>
        <p:spPr>
          <a:xfrm>
            <a:off x="4388380" y="7223760"/>
            <a:ext cx="27424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6B5A48"/>
                </a:solidFill>
                <a:latin typeface="Calibri"/>
              </a:rPr>
              <a:t>HIDDENSTAY FEE</a:t>
            </a:r>
          </a:p>
        </p:txBody>
      </p:sp>
      <p:sp>
        <p:nvSpPr>
          <p:cNvPr id="14354" name="Rounded Rectangle 14353"/>
          <p:cNvSpPr/>
          <p:nvPr/>
        </p:nvSpPr>
        <p:spPr>
          <a:xfrm>
            <a:off x="7222280" y="6355080"/>
            <a:ext cx="2742460" cy="132588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5" name="TextBox 14354"/>
          <p:cNvSpPr txBox="1"/>
          <p:nvPr/>
        </p:nvSpPr>
        <p:spPr>
          <a:xfrm>
            <a:off x="7222280" y="6446520"/>
            <a:ext cx="27424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8B3A2A"/>
                </a:solidFill>
                <a:latin typeface="Arial Black"/>
              </a:rPr>
              <a:t>95%</a:t>
            </a:r>
          </a:p>
        </p:txBody>
      </p:sp>
      <p:sp>
        <p:nvSpPr>
          <p:cNvPr id="14356" name="TextBox 14355"/>
          <p:cNvSpPr txBox="1"/>
          <p:nvPr/>
        </p:nvSpPr>
        <p:spPr>
          <a:xfrm>
            <a:off x="7222280" y="7223760"/>
            <a:ext cx="27424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6B5A48"/>
                </a:solidFill>
                <a:latin typeface="Calibri"/>
              </a:rPr>
              <a:t>HOST KEEPS</a:t>
            </a:r>
          </a:p>
        </p:txBody>
      </p:sp>
      <p:sp>
        <p:nvSpPr>
          <p:cNvPr id="14357" name="TextBox 14356"/>
          <p:cNvSpPr txBox="1"/>
          <p:nvPr/>
        </p:nvSpPr>
        <p:spPr>
          <a:xfrm>
            <a:off x="1554480" y="7772400"/>
            <a:ext cx="84102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SGD 100 stay → host saves SGD 13+ vs 18% OTA</a:t>
            </a:r>
          </a:p>
        </p:txBody>
      </p:sp>
      <p:sp>
        <p:nvSpPr>
          <p:cNvPr id="14358" name="Rounded Rectangle 14357"/>
          <p:cNvSpPr/>
          <p:nvPr/>
        </p:nvSpPr>
        <p:spPr>
          <a:xfrm>
            <a:off x="10312212" y="5074920"/>
            <a:ext cx="3840480" cy="3063240"/>
          </a:xfrm>
          <a:prstGeom prst="roundRect">
            <a:avLst/>
          </a:prstGeom>
          <a:solidFill>
            <a:srgbClr val="5C4033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9" name="TextBox 14358"/>
          <p:cNvSpPr txBox="1"/>
          <p:nvPr/>
        </p:nvSpPr>
        <p:spPr>
          <a:xfrm>
            <a:off x="10495092" y="54864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8DCC8"/>
                </a:solidFill>
                <a:latin typeface="Calibri"/>
              </a:rPr>
              <a:t>WHAT IF HOSTS COULD</a:t>
            </a:r>
          </a:p>
        </p:txBody>
      </p:sp>
      <p:sp>
        <p:nvSpPr>
          <p:cNvPr id="14360" name="TextBox 14359"/>
          <p:cNvSpPr txBox="1"/>
          <p:nvPr/>
        </p:nvSpPr>
        <p:spPr>
          <a:xfrm>
            <a:off x="10540812" y="598932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List free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Keep 95%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Plan &amp; book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in one app?</a:t>
            </a:r>
          </a:p>
        </p:txBody>
      </p:sp>
      <p:sp>
        <p:nvSpPr>
          <p:cNvPr id="14361" name="Oval 14360"/>
          <p:cNvSpPr/>
          <p:nvPr/>
        </p:nvSpPr>
        <p:spPr>
          <a:xfrm>
            <a:off x="11866692" y="7452360"/>
            <a:ext cx="731520" cy="731520"/>
          </a:xfrm>
          <a:prstGeom prst="ellipse">
            <a:avLst/>
          </a:prstGeom>
          <a:solidFill>
            <a:srgbClr val="2D6A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2" name="TextBox 14361"/>
          <p:cNvSpPr txBox="1"/>
          <p:nvPr/>
        </p:nvSpPr>
        <p:spPr>
          <a:xfrm>
            <a:off x="11866692" y="75895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HS</a:t>
            </a:r>
          </a:p>
        </p:txBody>
      </p:sp>
      <p:sp>
        <p:nvSpPr>
          <p:cNvPr id="14363" name="Rounded Rectangle 14362"/>
          <p:cNvSpPr/>
          <p:nvPr/>
        </p:nvSpPr>
        <p:spPr>
          <a:xfrm>
            <a:off x="14317284" y="5074920"/>
            <a:ext cx="5694740" cy="306324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4" name="TextBox 14363"/>
          <p:cNvSpPr txBox="1"/>
          <p:nvPr/>
        </p:nvSpPr>
        <p:spPr>
          <a:xfrm>
            <a:off x="14500164" y="5212080"/>
            <a:ext cx="53289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C4033"/>
                </a:solidFill>
                <a:latin typeface="Arial Black"/>
              </a:rPr>
              <a:t>CAPSTONE MVP</a:t>
            </a:r>
          </a:p>
        </p:txBody>
      </p:sp>
      <p:sp>
        <p:nvSpPr>
          <p:cNvPr id="14365" name="TextBox 14364"/>
          <p:cNvSpPr txBox="1"/>
          <p:nvPr/>
        </p:nvSpPr>
        <p:spPr>
          <a:xfrm>
            <a:off x="14545884" y="5623560"/>
            <a:ext cx="52375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D2E24"/>
                </a:solidFill>
                <a:latin typeface="Calibri"/>
              </a:rPr>
              <a:t>•  10-week build · Group 63 I</a:t>
            </a:r>
          </a:p>
        </p:txBody>
      </p:sp>
      <p:sp>
        <p:nvSpPr>
          <p:cNvPr id="14366" name="TextBox 14365"/>
          <p:cNvSpPr txBox="1"/>
          <p:nvPr/>
        </p:nvSpPr>
        <p:spPr>
          <a:xfrm>
            <a:off x="14545884" y="6035040"/>
            <a:ext cx="52375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D2E24"/>
                </a:solidFill>
                <a:latin typeface="Calibri"/>
              </a:rPr>
              <a:t>•  5 pilot listings</a:t>
            </a:r>
          </a:p>
        </p:txBody>
      </p:sp>
      <p:sp>
        <p:nvSpPr>
          <p:cNvPr id="14367" name="TextBox 14366"/>
          <p:cNvSpPr txBox="1"/>
          <p:nvPr/>
        </p:nvSpPr>
        <p:spPr>
          <a:xfrm>
            <a:off x="14545884" y="6446520"/>
            <a:ext cx="52375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D2E24"/>
                </a:solidFill>
                <a:latin typeface="Calibri"/>
              </a:rPr>
              <a:t>•  Stripe sandbox · AI planner</a:t>
            </a:r>
          </a:p>
        </p:txBody>
      </p:sp>
      <p:sp>
        <p:nvSpPr>
          <p:cNvPr id="14368" name="TextBox 14367"/>
          <p:cNvSpPr txBox="1"/>
          <p:nvPr/>
        </p:nvSpPr>
        <p:spPr>
          <a:xfrm>
            <a:off x="14545884" y="6858000"/>
            <a:ext cx="52375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D2E24"/>
                </a:solidFill>
                <a:latin typeface="Calibri"/>
              </a:rPr>
              <a:t>•  ≥80% map-valid stops</a:t>
            </a:r>
          </a:p>
        </p:txBody>
      </p:sp>
      <p:sp>
        <p:nvSpPr>
          <p:cNvPr id="14369" name="TextBox 14368"/>
          <p:cNvSpPr txBox="1"/>
          <p:nvPr/>
        </p:nvSpPr>
        <p:spPr>
          <a:xfrm>
            <a:off x="14545884" y="7269480"/>
            <a:ext cx="52375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D2E24"/>
                </a:solidFill>
                <a:latin typeface="Calibri"/>
              </a:rPr>
              <a:t>•  Host portal free (Starter)</a:t>
            </a:r>
          </a:p>
        </p:txBody>
      </p:sp>
      <p:sp>
        <p:nvSpPr>
          <p:cNvPr id="14370" name="Rounded Rectangle 14369"/>
          <p:cNvSpPr/>
          <p:nvPr/>
        </p:nvSpPr>
        <p:spPr>
          <a:xfrm>
            <a:off x="1371600" y="8302752"/>
            <a:ext cx="9237916" cy="365760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1" name="Rounded Rectangle 14370"/>
          <p:cNvSpPr/>
          <p:nvPr/>
        </p:nvSpPr>
        <p:spPr>
          <a:xfrm>
            <a:off x="1536192" y="8467344"/>
            <a:ext cx="4367498" cy="123444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2" name="TextBox 14371"/>
          <p:cNvSpPr txBox="1"/>
          <p:nvPr/>
        </p:nvSpPr>
        <p:spPr>
          <a:xfrm>
            <a:off x="1645920" y="8558784"/>
            <a:ext cx="41480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C4033"/>
                </a:solidFill>
                <a:latin typeface="Arial Black"/>
              </a:rPr>
              <a:t>MISSION</a:t>
            </a:r>
          </a:p>
        </p:txBody>
      </p:sp>
      <p:sp>
        <p:nvSpPr>
          <p:cNvPr id="14373" name="TextBox 14372"/>
          <p:cNvSpPr txBox="1"/>
          <p:nvPr/>
        </p:nvSpPr>
        <p:spPr>
          <a:xfrm>
            <a:off x="1645920" y="8851392"/>
            <a:ext cx="414804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D2E24"/>
                </a:solidFill>
                <a:latin typeface="Calibri"/>
              </a:rPr>
              <a:t>Fair host economics + seamless plan → map → book for travellers.</a:t>
            </a:r>
          </a:p>
        </p:txBody>
      </p:sp>
      <p:sp>
        <p:nvSpPr>
          <p:cNvPr id="14374" name="Rounded Rectangle 14373"/>
          <p:cNvSpPr/>
          <p:nvPr/>
        </p:nvSpPr>
        <p:spPr>
          <a:xfrm>
            <a:off x="6068282" y="8467344"/>
            <a:ext cx="4367498" cy="123444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5" name="TextBox 14374"/>
          <p:cNvSpPr txBox="1"/>
          <p:nvPr/>
        </p:nvSpPr>
        <p:spPr>
          <a:xfrm>
            <a:off x="6178010" y="8558784"/>
            <a:ext cx="41480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C4033"/>
                </a:solidFill>
                <a:latin typeface="Arial Black"/>
              </a:rPr>
              <a:t>VISION</a:t>
            </a:r>
          </a:p>
        </p:txBody>
      </p:sp>
      <p:sp>
        <p:nvSpPr>
          <p:cNvPr id="14376" name="TextBox 14375"/>
          <p:cNvSpPr txBox="1"/>
          <p:nvPr/>
        </p:nvSpPr>
        <p:spPr>
          <a:xfrm>
            <a:off x="6178010" y="8851392"/>
            <a:ext cx="414804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D2E24"/>
                </a:solidFill>
                <a:latin typeface="Calibri"/>
              </a:rPr>
              <a:t>Trusted direct-booking for hidden stays across SEA — one city at a time.</a:t>
            </a:r>
          </a:p>
        </p:txBody>
      </p:sp>
      <p:sp>
        <p:nvSpPr>
          <p:cNvPr id="14377" name="Rounded Rectangle 14376"/>
          <p:cNvSpPr/>
          <p:nvPr/>
        </p:nvSpPr>
        <p:spPr>
          <a:xfrm>
            <a:off x="2835878" y="9857232"/>
            <a:ext cx="2011680" cy="1965960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8" name="TextBox 14377"/>
          <p:cNvSpPr txBox="1"/>
          <p:nvPr/>
        </p:nvSpPr>
        <p:spPr>
          <a:xfrm>
            <a:off x="2835878" y="993038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AI PLANNER</a:t>
            </a:r>
          </a:p>
        </p:txBody>
      </p:sp>
      <p:sp>
        <p:nvSpPr>
          <p:cNvPr id="14379" name="Rounded Rectangle 14378"/>
          <p:cNvSpPr/>
          <p:nvPr/>
        </p:nvSpPr>
        <p:spPr>
          <a:xfrm>
            <a:off x="2927318" y="10222992"/>
            <a:ext cx="1828800" cy="1508760"/>
          </a:xfrm>
          <a:prstGeom prst="roundRect">
            <a:avLst/>
          </a:prstGeom>
          <a:solidFill>
            <a:srgbClr val="0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0" name="TextBox 14379"/>
          <p:cNvSpPr txBox="1"/>
          <p:nvPr/>
        </p:nvSpPr>
        <p:spPr>
          <a:xfrm>
            <a:off x="2973038" y="10314432"/>
            <a:ext cx="1737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Day 1 · Chiang Mai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● Old town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● Homestay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Day 2 · countryside</a:t>
            </a:r>
          </a:p>
        </p:txBody>
      </p:sp>
      <p:sp>
        <p:nvSpPr>
          <p:cNvPr id="14381" name="Rounded Rectangle 14380"/>
          <p:cNvSpPr/>
          <p:nvPr/>
        </p:nvSpPr>
        <p:spPr>
          <a:xfrm>
            <a:off x="4984718" y="9857232"/>
            <a:ext cx="2011680" cy="1965960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2" name="TextBox 14381"/>
          <p:cNvSpPr txBox="1"/>
          <p:nvPr/>
        </p:nvSpPr>
        <p:spPr>
          <a:xfrm>
            <a:off x="4984718" y="993038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MAP + BOOK</a:t>
            </a:r>
          </a:p>
        </p:txBody>
      </p:sp>
      <p:sp>
        <p:nvSpPr>
          <p:cNvPr id="14383" name="Rounded Rectangle 14382"/>
          <p:cNvSpPr/>
          <p:nvPr/>
        </p:nvSpPr>
        <p:spPr>
          <a:xfrm>
            <a:off x="5076158" y="10222992"/>
            <a:ext cx="1828800" cy="1508760"/>
          </a:xfrm>
          <a:prstGeom prst="roundRect">
            <a:avLst/>
          </a:prstGeom>
          <a:solidFill>
            <a:srgbClr val="0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4" name="TextBox 14383"/>
          <p:cNvSpPr txBox="1"/>
          <p:nvPr/>
        </p:nvSpPr>
        <p:spPr>
          <a:xfrm>
            <a:off x="5121878" y="10314432"/>
            <a:ext cx="1737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[ MAP ]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● Stay A  SGD 50/n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● Stay B  SGD 45/n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→ Book</a:t>
            </a:r>
          </a:p>
        </p:txBody>
      </p:sp>
      <p:sp>
        <p:nvSpPr>
          <p:cNvPr id="14385" name="Rounded Rectangle 14384"/>
          <p:cNvSpPr/>
          <p:nvPr/>
        </p:nvSpPr>
        <p:spPr>
          <a:xfrm>
            <a:off x="7133558" y="9857232"/>
            <a:ext cx="2011680" cy="1965960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6" name="TextBox 14385"/>
          <p:cNvSpPr txBox="1"/>
          <p:nvPr/>
        </p:nvSpPr>
        <p:spPr>
          <a:xfrm>
            <a:off x="7133558" y="993038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HOST PORTAL</a:t>
            </a:r>
          </a:p>
        </p:txBody>
      </p:sp>
      <p:sp>
        <p:nvSpPr>
          <p:cNvPr id="14387" name="Rounded Rectangle 14386"/>
          <p:cNvSpPr/>
          <p:nvPr/>
        </p:nvSpPr>
        <p:spPr>
          <a:xfrm>
            <a:off x="7224998" y="10222992"/>
            <a:ext cx="1828800" cy="1508760"/>
          </a:xfrm>
          <a:prstGeom prst="roundRect">
            <a:avLst/>
          </a:prstGeom>
          <a:solidFill>
            <a:srgbClr val="0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8" name="TextBox 14387"/>
          <p:cNvSpPr txBox="1"/>
          <p:nvPr/>
        </p:nvSpPr>
        <p:spPr>
          <a:xfrm>
            <a:off x="7270718" y="10314432"/>
            <a:ext cx="1737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Earnings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Avail. SGD 285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Pending SGD 95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A8E6CF"/>
                </a:solidFill>
                <a:latin typeface="Calibri"/>
              </a:rPr>
              <a:t>5% · 95% yours</a:t>
            </a:r>
          </a:p>
        </p:txBody>
      </p:sp>
      <p:sp>
        <p:nvSpPr>
          <p:cNvPr id="14389" name="Rounded Rectangle 14388"/>
          <p:cNvSpPr/>
          <p:nvPr/>
        </p:nvSpPr>
        <p:spPr>
          <a:xfrm>
            <a:off x="10774108" y="8302752"/>
            <a:ext cx="9237916" cy="3657600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0" name="TextBox 14389"/>
          <p:cNvSpPr txBox="1"/>
          <p:nvPr/>
        </p:nvSpPr>
        <p:spPr>
          <a:xfrm>
            <a:off x="10956988" y="8412480"/>
            <a:ext cx="88721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C4033"/>
                </a:solidFill>
                <a:latin typeface="Arial Black"/>
              </a:rPr>
              <a:t>BUSINESS MODEL</a:t>
            </a:r>
          </a:p>
        </p:txBody>
      </p:sp>
      <p:sp>
        <p:nvSpPr>
          <p:cNvPr id="14391" name="Rounded Rectangle 14390"/>
          <p:cNvSpPr/>
          <p:nvPr/>
        </p:nvSpPr>
        <p:spPr>
          <a:xfrm>
            <a:off x="10956988" y="8805672"/>
            <a:ext cx="2835465" cy="77724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2" name="TextBox 14391"/>
          <p:cNvSpPr txBox="1"/>
          <p:nvPr/>
        </p:nvSpPr>
        <p:spPr>
          <a:xfrm>
            <a:off x="10956988" y="8851392"/>
            <a:ext cx="283546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C4033"/>
                </a:solidFill>
                <a:latin typeface="Arial Black"/>
              </a:rPr>
              <a:t>FOCUS</a:t>
            </a:r>
          </a:p>
        </p:txBody>
      </p:sp>
      <p:sp>
        <p:nvSpPr>
          <p:cNvPr id="14393" name="TextBox 14392"/>
          <p:cNvSpPr txBox="1"/>
          <p:nvPr/>
        </p:nvSpPr>
        <p:spPr>
          <a:xfrm>
            <a:off x="10956988" y="9171432"/>
            <a:ext cx="283546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Supply + planner</a:t>
            </a:r>
          </a:p>
        </p:txBody>
      </p:sp>
      <p:sp>
        <p:nvSpPr>
          <p:cNvPr id="14394" name="Rounded Rectangle 14393"/>
          <p:cNvSpPr/>
          <p:nvPr/>
        </p:nvSpPr>
        <p:spPr>
          <a:xfrm>
            <a:off x="13883894" y="8805672"/>
            <a:ext cx="2835465" cy="77724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5" name="TextBox 14394"/>
          <p:cNvSpPr txBox="1"/>
          <p:nvPr/>
        </p:nvSpPr>
        <p:spPr>
          <a:xfrm>
            <a:off x="13883894" y="8851392"/>
            <a:ext cx="283546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C4033"/>
                </a:solidFill>
                <a:latin typeface="Arial Black"/>
              </a:rPr>
              <a:t>STARTER</a:t>
            </a:r>
          </a:p>
        </p:txBody>
      </p:sp>
      <p:sp>
        <p:nvSpPr>
          <p:cNvPr id="14396" name="TextBox 14395"/>
          <p:cNvSpPr txBox="1"/>
          <p:nvPr/>
        </p:nvSpPr>
        <p:spPr>
          <a:xfrm>
            <a:off x="13883894" y="9171432"/>
            <a:ext cx="283546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Free · 5%</a:t>
            </a:r>
          </a:p>
        </p:txBody>
      </p:sp>
      <p:sp>
        <p:nvSpPr>
          <p:cNvPr id="14397" name="Rounded Rectangle 14396"/>
          <p:cNvSpPr/>
          <p:nvPr/>
        </p:nvSpPr>
        <p:spPr>
          <a:xfrm>
            <a:off x="16810799" y="8805672"/>
            <a:ext cx="2835465" cy="777240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8" name="TextBox 14397"/>
          <p:cNvSpPr txBox="1"/>
          <p:nvPr/>
        </p:nvSpPr>
        <p:spPr>
          <a:xfrm>
            <a:off x="16810799" y="8851392"/>
            <a:ext cx="283546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C4033"/>
                </a:solidFill>
                <a:latin typeface="Arial Black"/>
              </a:rPr>
              <a:t>REVENUE</a:t>
            </a:r>
          </a:p>
        </p:txBody>
      </p:sp>
      <p:sp>
        <p:nvSpPr>
          <p:cNvPr id="14399" name="TextBox 14398"/>
          <p:cNvSpPr txBox="1"/>
          <p:nvPr/>
        </p:nvSpPr>
        <p:spPr>
          <a:xfrm>
            <a:off x="16810799" y="9171432"/>
            <a:ext cx="283546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4 streams</a:t>
            </a:r>
          </a:p>
        </p:txBody>
      </p:sp>
      <p:sp>
        <p:nvSpPr>
          <p:cNvPr id="14400" name="TextBox 14399"/>
          <p:cNvSpPr txBox="1"/>
          <p:nvPr/>
        </p:nvSpPr>
        <p:spPr>
          <a:xfrm>
            <a:off x="10956988" y="9674352"/>
            <a:ext cx="88721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D2E24"/>
                </a:solidFill>
                <a:latin typeface="Calibri"/>
              </a:rPr>
              <a:t>① 5% booking   ② Growth SGD 50/mo   ③ Featured SGD 99   ④ Ads 7–10% (15% cap)</a:t>
            </a:r>
          </a:p>
        </p:txBody>
      </p:sp>
      <p:sp>
        <p:nvSpPr>
          <p:cNvPr id="14401" name="TextBox 14400"/>
          <p:cNvSpPr txBox="1"/>
          <p:nvPr/>
        </p:nvSpPr>
        <p:spPr>
          <a:xfrm>
            <a:off x="10956988" y="10131552"/>
            <a:ext cx="88721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C4033"/>
                </a:solidFill>
                <a:latin typeface="Arial Black"/>
              </a:rPr>
              <a:t>WHY US? (SWOT)</a:t>
            </a:r>
          </a:p>
        </p:txBody>
      </p:sp>
      <p:sp>
        <p:nvSpPr>
          <p:cNvPr id="14402" name="Rounded Rectangle 14401"/>
          <p:cNvSpPr/>
          <p:nvPr/>
        </p:nvSpPr>
        <p:spPr>
          <a:xfrm>
            <a:off x="10956988" y="10497312"/>
            <a:ext cx="411480" cy="292608"/>
          </a:xfrm>
          <a:prstGeom prst="roundRect">
            <a:avLst/>
          </a:prstGeom>
          <a:solidFill>
            <a:srgbClr val="5B7C99"/>
          </a:solidFill>
          <a:ln w="15875">
            <a:solidFill>
              <a:srgbClr val="5B7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3" name="TextBox 14402"/>
          <p:cNvSpPr txBox="1"/>
          <p:nvPr/>
        </p:nvSpPr>
        <p:spPr>
          <a:xfrm>
            <a:off x="10956988" y="10497312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404" name="TextBox 14403"/>
          <p:cNvSpPr txBox="1"/>
          <p:nvPr/>
        </p:nvSpPr>
        <p:spPr>
          <a:xfrm>
            <a:off x="11459908" y="10497312"/>
            <a:ext cx="83235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5% vs 15–30% OTAs · Free portal · Plan→book</a:t>
            </a:r>
          </a:p>
        </p:txBody>
      </p:sp>
      <p:sp>
        <p:nvSpPr>
          <p:cNvPr id="14405" name="Rounded Rectangle 14404"/>
          <p:cNvSpPr/>
          <p:nvPr/>
        </p:nvSpPr>
        <p:spPr>
          <a:xfrm>
            <a:off x="10956988" y="10844784"/>
            <a:ext cx="411480" cy="292608"/>
          </a:xfrm>
          <a:prstGeom prst="roundRect">
            <a:avLst/>
          </a:prstGeom>
          <a:solidFill>
            <a:srgbClr val="D4A843"/>
          </a:solidFill>
          <a:ln w="1587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6" name="TextBox 14405"/>
          <p:cNvSpPr txBox="1"/>
          <p:nvPr/>
        </p:nvSpPr>
        <p:spPr>
          <a:xfrm>
            <a:off x="10956988" y="10844784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4407" name="TextBox 14406"/>
          <p:cNvSpPr txBox="1"/>
          <p:nvPr/>
        </p:nvSpPr>
        <p:spPr>
          <a:xfrm>
            <a:off x="11459908" y="10844784"/>
            <a:ext cx="83235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Thin unit economics · New brand</a:t>
            </a:r>
          </a:p>
        </p:txBody>
      </p:sp>
      <p:sp>
        <p:nvSpPr>
          <p:cNvPr id="14408" name="Rounded Rectangle 14407"/>
          <p:cNvSpPr/>
          <p:nvPr/>
        </p:nvSpPr>
        <p:spPr>
          <a:xfrm>
            <a:off x="10956988" y="11192256"/>
            <a:ext cx="411480" cy="292608"/>
          </a:xfrm>
          <a:prstGeom prst="roundRect">
            <a:avLst/>
          </a:prstGeom>
          <a:solidFill>
            <a:srgbClr val="D4845B"/>
          </a:solidFill>
          <a:ln w="15875">
            <a:solidFill>
              <a:srgbClr val="D4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9" name="TextBox 14408"/>
          <p:cNvSpPr txBox="1"/>
          <p:nvPr/>
        </p:nvSpPr>
        <p:spPr>
          <a:xfrm>
            <a:off x="10956988" y="11192256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4410" name="TextBox 14409"/>
          <p:cNvSpPr txBox="1"/>
          <p:nvPr/>
        </p:nvSpPr>
        <p:spPr>
          <a:xfrm>
            <a:off x="11459908" y="11192256"/>
            <a:ext cx="83235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SEA homestay supply · SEO + planner</a:t>
            </a:r>
          </a:p>
        </p:txBody>
      </p:sp>
      <p:sp>
        <p:nvSpPr>
          <p:cNvPr id="14411" name="Rounded Rectangle 14410"/>
          <p:cNvSpPr/>
          <p:nvPr/>
        </p:nvSpPr>
        <p:spPr>
          <a:xfrm>
            <a:off x="10956988" y="11539728"/>
            <a:ext cx="411480" cy="292608"/>
          </a:xfrm>
          <a:prstGeom prst="roundRect">
            <a:avLst/>
          </a:prstGeom>
          <a:solidFill>
            <a:srgbClr val="8B6B9E"/>
          </a:solidFill>
          <a:ln w="15875">
            <a:solidFill>
              <a:srgbClr val="8B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2" name="TextBox 14411"/>
          <p:cNvSpPr txBox="1"/>
          <p:nvPr/>
        </p:nvSpPr>
        <p:spPr>
          <a:xfrm>
            <a:off x="10956988" y="11539728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4413" name="TextBox 14412"/>
          <p:cNvSpPr txBox="1"/>
          <p:nvPr/>
        </p:nvSpPr>
        <p:spPr>
          <a:xfrm>
            <a:off x="11459908" y="11539728"/>
            <a:ext cx="83235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D2E24"/>
                </a:solidFill>
                <a:latin typeface="Calibri"/>
              </a:rPr>
              <a:t>OTA dominance · Guest discovery cost</a:t>
            </a:r>
          </a:p>
        </p:txBody>
      </p:sp>
      <p:sp>
        <p:nvSpPr>
          <p:cNvPr id="14414" name="Rounded Rectangle 14413"/>
          <p:cNvSpPr/>
          <p:nvPr/>
        </p:nvSpPr>
        <p:spPr>
          <a:xfrm>
            <a:off x="1371600" y="12124944"/>
            <a:ext cx="18640425" cy="16541496"/>
          </a:xfrm>
          <a:prstGeom prst="roundRect">
            <a:avLst>
              <a:gd name="adj" fmla="val 5000"/>
            </a:avLst>
          </a:prstGeom>
          <a:solidFill>
            <a:srgbClr val="E8DCC8"/>
          </a:solidFill>
          <a:ln w="1905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5" name="TextBox 14414"/>
          <p:cNvSpPr txBox="1"/>
          <p:nvPr/>
        </p:nvSpPr>
        <p:spPr>
          <a:xfrm>
            <a:off x="1600200" y="12262104"/>
            <a:ext cx="1818322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C4033"/>
                </a:solidFill>
                <a:latin typeface="Arial Black"/>
              </a:rPr>
              <a:t>PRODUCT + BUSINESS FEATURES</a:t>
            </a:r>
          </a:p>
        </p:txBody>
      </p:sp>
      <p:sp>
        <p:nvSpPr>
          <p:cNvPr id="14416" name="Rounded Rectangle 14415"/>
          <p:cNvSpPr/>
          <p:nvPr/>
        </p:nvSpPr>
        <p:spPr>
          <a:xfrm>
            <a:off x="1600200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7" name="Oval 14416"/>
          <p:cNvSpPr/>
          <p:nvPr/>
        </p:nvSpPr>
        <p:spPr>
          <a:xfrm>
            <a:off x="2629906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8" name="TextBox 14417"/>
          <p:cNvSpPr txBox="1"/>
          <p:nvPr/>
        </p:nvSpPr>
        <p:spPr>
          <a:xfrm>
            <a:off x="2629906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419" name="TextBox 14418"/>
          <p:cNvSpPr txBox="1"/>
          <p:nvPr/>
        </p:nvSpPr>
        <p:spPr>
          <a:xfrm>
            <a:off x="1673352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5% MARKETPLACE</a:t>
            </a:r>
          </a:p>
        </p:txBody>
      </p:sp>
      <p:sp>
        <p:nvSpPr>
          <p:cNvPr id="14420" name="Rounded Rectangle 14419"/>
          <p:cNvSpPr/>
          <p:nvPr/>
        </p:nvSpPr>
        <p:spPr>
          <a:xfrm>
            <a:off x="4217397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1" name="Oval 14420"/>
          <p:cNvSpPr/>
          <p:nvPr/>
        </p:nvSpPr>
        <p:spPr>
          <a:xfrm>
            <a:off x="5247104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2" name="TextBox 14421"/>
          <p:cNvSpPr txBox="1"/>
          <p:nvPr/>
        </p:nvSpPr>
        <p:spPr>
          <a:xfrm>
            <a:off x="5247104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423" name="TextBox 14422"/>
          <p:cNvSpPr txBox="1"/>
          <p:nvPr/>
        </p:nvSpPr>
        <p:spPr>
          <a:xfrm>
            <a:off x="4290549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AI PLANNER + MAP</a:t>
            </a:r>
          </a:p>
        </p:txBody>
      </p:sp>
      <p:sp>
        <p:nvSpPr>
          <p:cNvPr id="14424" name="Rounded Rectangle 14423"/>
          <p:cNvSpPr/>
          <p:nvPr/>
        </p:nvSpPr>
        <p:spPr>
          <a:xfrm>
            <a:off x="6834595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5" name="Oval 14424"/>
          <p:cNvSpPr/>
          <p:nvPr/>
        </p:nvSpPr>
        <p:spPr>
          <a:xfrm>
            <a:off x="7864302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6" name="TextBox 14425"/>
          <p:cNvSpPr txBox="1"/>
          <p:nvPr/>
        </p:nvSpPr>
        <p:spPr>
          <a:xfrm>
            <a:off x="7864302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427" name="TextBox 14426"/>
          <p:cNvSpPr txBox="1"/>
          <p:nvPr/>
        </p:nvSpPr>
        <p:spPr>
          <a:xfrm>
            <a:off x="6907747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PLAN → BOOK FLOW</a:t>
            </a:r>
          </a:p>
        </p:txBody>
      </p:sp>
      <p:sp>
        <p:nvSpPr>
          <p:cNvPr id="14428" name="Rounded Rectangle 14427"/>
          <p:cNvSpPr/>
          <p:nvPr/>
        </p:nvSpPr>
        <p:spPr>
          <a:xfrm>
            <a:off x="9451793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9" name="Oval 14428"/>
          <p:cNvSpPr/>
          <p:nvPr/>
        </p:nvSpPr>
        <p:spPr>
          <a:xfrm>
            <a:off x="10481500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0" name="TextBox 14429"/>
          <p:cNvSpPr txBox="1"/>
          <p:nvPr/>
        </p:nvSpPr>
        <p:spPr>
          <a:xfrm>
            <a:off x="10481500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431" name="TextBox 14430"/>
          <p:cNvSpPr txBox="1"/>
          <p:nvPr/>
        </p:nvSpPr>
        <p:spPr>
          <a:xfrm>
            <a:off x="9524945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FREE HOST PORTAL</a:t>
            </a:r>
          </a:p>
        </p:txBody>
      </p:sp>
      <p:sp>
        <p:nvSpPr>
          <p:cNvPr id="14432" name="Rounded Rectangle 14431"/>
          <p:cNvSpPr/>
          <p:nvPr/>
        </p:nvSpPr>
        <p:spPr>
          <a:xfrm>
            <a:off x="12068991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3" name="Oval 14432"/>
          <p:cNvSpPr/>
          <p:nvPr/>
        </p:nvSpPr>
        <p:spPr>
          <a:xfrm>
            <a:off x="13098698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4" name="TextBox 14433"/>
          <p:cNvSpPr txBox="1"/>
          <p:nvPr/>
        </p:nvSpPr>
        <p:spPr>
          <a:xfrm>
            <a:off x="13098698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435" name="TextBox 14434"/>
          <p:cNvSpPr txBox="1"/>
          <p:nvPr/>
        </p:nvSpPr>
        <p:spPr>
          <a:xfrm>
            <a:off x="12142143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GROWTH TOOLS (SEO)</a:t>
            </a:r>
          </a:p>
        </p:txBody>
      </p:sp>
      <p:sp>
        <p:nvSpPr>
          <p:cNvPr id="14436" name="Rounded Rectangle 14435"/>
          <p:cNvSpPr/>
          <p:nvPr/>
        </p:nvSpPr>
        <p:spPr>
          <a:xfrm>
            <a:off x="14686189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7" name="Oval 14436"/>
          <p:cNvSpPr/>
          <p:nvPr/>
        </p:nvSpPr>
        <p:spPr>
          <a:xfrm>
            <a:off x="15715896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8" name="TextBox 14437"/>
          <p:cNvSpPr txBox="1"/>
          <p:nvPr/>
        </p:nvSpPr>
        <p:spPr>
          <a:xfrm>
            <a:off x="15715896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439" name="TextBox 14438"/>
          <p:cNvSpPr txBox="1"/>
          <p:nvPr/>
        </p:nvSpPr>
        <p:spPr>
          <a:xfrm>
            <a:off x="14759341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MULTI-NIGHT TRIPS</a:t>
            </a:r>
          </a:p>
        </p:txBody>
      </p:sp>
      <p:sp>
        <p:nvSpPr>
          <p:cNvPr id="14440" name="Rounded Rectangle 14439"/>
          <p:cNvSpPr/>
          <p:nvPr/>
        </p:nvSpPr>
        <p:spPr>
          <a:xfrm>
            <a:off x="17303387" y="12673584"/>
            <a:ext cx="2571477" cy="15764256"/>
          </a:xfrm>
          <a:prstGeom prst="roundRect">
            <a:avLst/>
          </a:prstGeom>
          <a:solidFill>
            <a:srgbClr val="D4C4A8"/>
          </a:solidFill>
          <a:ln w="12700">
            <a:solidFill>
              <a:srgbClr val="5C4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1" name="Oval 14440"/>
          <p:cNvSpPr/>
          <p:nvPr/>
        </p:nvSpPr>
        <p:spPr>
          <a:xfrm>
            <a:off x="18333094" y="12902184"/>
            <a:ext cx="512064" cy="512064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2" name="TextBox 14441"/>
          <p:cNvSpPr txBox="1"/>
          <p:nvPr/>
        </p:nvSpPr>
        <p:spPr>
          <a:xfrm>
            <a:off x="18333094" y="12993624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4443" name="TextBox 14442"/>
          <p:cNvSpPr txBox="1"/>
          <p:nvPr/>
        </p:nvSpPr>
        <p:spPr>
          <a:xfrm>
            <a:off x="17376539" y="13542264"/>
            <a:ext cx="242517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D2E24"/>
                </a:solidFill>
                <a:latin typeface="Calibri"/>
              </a:rPr>
              <a:t>18-MO SURVIVAL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98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 Light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Cindy Novita</dc:creator>
  <cp:lastModifiedBy>owner</cp:lastModifiedBy>
  <cp:revision>29</cp:revision>
  <cp:lastPrinted>2017-08-28T03:49:33Z</cp:lastPrinted>
  <dcterms:created xsi:type="dcterms:W3CDTF">2017-05-08T03:47:24Z</dcterms:created>
  <dcterms:modified xsi:type="dcterms:W3CDTF">2026-06-15T23:54:17Z</dcterms:modified>
</cp:coreProperties>
</file>