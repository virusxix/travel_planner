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solidFill>
            <a:srgbClr val="F4F0E8"/>
          </a:solidFill>
          <a:ln>
            <a:solidFill>
              <a:srgbClr val="F4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68000" y="1368000"/>
            <a:ext cx="1728000" cy="792000"/>
          </a:xfrm>
          <a:prstGeom prst="rect">
            <a:avLst/>
          </a:prstGeom>
          <a:solidFill>
            <a:srgbClr val="F4F0E8"/>
          </a:solidFill>
          <a:ln w="12700">
            <a:solidFill>
              <a:srgbClr val="5C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8000" y="1512000"/>
            <a:ext cx="172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4A38"/>
                </a:solidFill>
                <a:latin typeface="Calibri"/>
              </a:rPr>
              <a:t>JCUS 18</a:t>
            </a:r>
            <a:br/>
            <a:r>
              <a:t>SEAL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1368000"/>
            <a:ext cx="14544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1A1510"/>
                </a:solidFill>
                <a:latin typeface="Times New Roman"/>
              </a:rPr>
              <a:t>HiddenStay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2088000"/>
            <a:ext cx="1454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4A38"/>
                </a:solidFill>
                <a:latin typeface="Calibri"/>
              </a:rPr>
              <a:t>Fair Commission Homestays + AI Trip Planner · Southeast Asia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7784000" y="1368000"/>
            <a:ext cx="2232000" cy="792000"/>
          </a:xfrm>
          <a:prstGeom prst="rect">
            <a:avLst/>
          </a:prstGeom>
          <a:solidFill>
            <a:srgbClr val="F4F0E8"/>
          </a:solidFill>
          <a:ln w="12700">
            <a:solidFill>
              <a:srgbClr val="5C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784000" y="1476000"/>
            <a:ext cx="2232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C4A38"/>
                </a:solidFill>
                <a:latin typeface="Calibri"/>
              </a:rPr>
              <a:t>JAMES COOK</a:t>
            </a:r>
            <a:br/>
            <a:r>
              <a:t>UNIVERSITY</a:t>
            </a:r>
            <a:br/>
            <a:r>
              <a:t>SINGAPORE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8000" y="2376000"/>
            <a:ext cx="7200000" cy="1872000"/>
          </a:xfrm>
          <a:prstGeom prst="rect">
            <a:avLst/>
          </a:prstGeom>
          <a:solidFill>
            <a:srgbClr val="E8E0D4"/>
          </a:solidFill>
          <a:ln w="1905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2000" y="2484000"/>
            <a:ext cx="691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3428"/>
                </a:solidFill>
                <a:latin typeface="Calibri"/>
              </a:rPr>
              <a:t>THE ISSUE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2000" y="2772000"/>
            <a:ext cx="6912000" cy="28800"/>
          </a:xfrm>
          <a:prstGeom prst="rect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12000" y="2844000"/>
            <a:ext cx="691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2218"/>
                </a:solidFill>
                <a:latin typeface="Calibri"/>
              </a:rPr>
              <a:t>Independent homestays lose 15–30% per booking to OTAs. Travellers plan on Google and book on different apps.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12000" y="3312000"/>
            <a:ext cx="2208000" cy="504000"/>
          </a:xfrm>
          <a:prstGeom prst="rect">
            <a:avLst/>
          </a:prstGeom>
          <a:solidFill>
            <a:srgbClr val="D4CBB8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12000" y="3348000"/>
            <a:ext cx="220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8B3A2A"/>
                </a:solidFill>
                <a:latin typeface="Calibri"/>
              </a:rPr>
              <a:t>15–30%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3564000"/>
            <a:ext cx="220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2A2218"/>
                </a:solidFill>
                <a:latin typeface="Calibri"/>
              </a:rPr>
              <a:t>OTA fee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2000" y="3312000"/>
            <a:ext cx="2208000" cy="504000"/>
          </a:xfrm>
          <a:prstGeom prst="rect">
            <a:avLst/>
          </a:prstGeom>
          <a:solidFill>
            <a:srgbClr val="D4CBB8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2000" y="3348000"/>
            <a:ext cx="220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8B3A2A"/>
                </a:solidFill>
                <a:latin typeface="Calibri"/>
              </a:rP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2000" y="3564000"/>
            <a:ext cx="220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2A2218"/>
                </a:solidFill>
                <a:latin typeface="Calibri"/>
              </a:rPr>
              <a:t>HiddenStay fee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2000" y="3312000"/>
            <a:ext cx="2208000" cy="504000"/>
          </a:xfrm>
          <a:prstGeom prst="rect">
            <a:avLst/>
          </a:prstGeom>
          <a:solidFill>
            <a:srgbClr val="D4CBB8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2000" y="3348000"/>
            <a:ext cx="220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8B3A2A"/>
                </a:solidFill>
                <a:latin typeface="Calibri"/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2000" y="3564000"/>
            <a:ext cx="220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2A2218"/>
                </a:solidFill>
                <a:latin typeface="Calibri"/>
              </a:rPr>
              <a:t>Host keeps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2000" y="3888000"/>
            <a:ext cx="691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2A2218"/>
                </a:solidFill>
                <a:latin typeface="Calibri"/>
              </a:rPr>
              <a:t>SGD 100 stay → host saves SGD 13+ vs 18% OTA.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76000" y="2376000"/>
            <a:ext cx="4248000" cy="1872000"/>
          </a:xfrm>
          <a:prstGeom prst="rect">
            <a:avLst/>
          </a:prstGeom>
          <a:solidFill>
            <a:srgbClr val="3D3428"/>
          </a:solidFill>
          <a:ln w="1905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4000" y="2592000"/>
            <a:ext cx="40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4F0E8"/>
                </a:solidFill>
                <a:latin typeface="Calibri"/>
              </a:rPr>
              <a:t>WHAT IF HOSTS COULD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000" y="2880000"/>
            <a:ext cx="4032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4F0E8"/>
                </a:solidFill>
                <a:latin typeface="Times New Roman"/>
              </a:rPr>
              <a:t>List free · Keep 95% · Plan &amp; book in one app?</a:t>
            </a:r>
          </a:p>
        </p:txBody>
      </p:sp>
      <p:sp>
        <p:nvSpPr>
          <p:cNvPr id="26" name="Oval 25"/>
          <p:cNvSpPr/>
          <p:nvPr/>
        </p:nvSpPr>
        <p:spPr>
          <a:xfrm>
            <a:off x="10548000" y="3744000"/>
            <a:ext cx="504000" cy="504000"/>
          </a:xfrm>
          <a:prstGeom prst="ellipse">
            <a:avLst/>
          </a:prstGeom>
          <a:solidFill>
            <a:srgbClr val="2D6A5A"/>
          </a:solidFill>
          <a:ln>
            <a:solidFill>
              <a:srgbClr val="F4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8000" y="3816000"/>
            <a:ext cx="5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8E6CF"/>
                </a:solidFill>
                <a:latin typeface="Calibri"/>
              </a:rPr>
              <a:t>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032000" y="2376000"/>
            <a:ext cx="6984000" cy="1872000"/>
          </a:xfrm>
          <a:prstGeom prst="rect">
            <a:avLst/>
          </a:prstGeom>
          <a:solidFill>
            <a:srgbClr val="E8E0D4"/>
          </a:solidFill>
          <a:ln w="1905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76000" y="2484000"/>
            <a:ext cx="6696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3428"/>
                </a:solidFill>
                <a:latin typeface="Calibri"/>
              </a:rPr>
              <a:t>CAPSTONE MVP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176000" y="2772000"/>
            <a:ext cx="6696000" cy="28800"/>
          </a:xfrm>
          <a:prstGeom prst="rect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48000" y="2880000"/>
            <a:ext cx="6624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2218"/>
                </a:solidFill>
                <a:latin typeface="Calibri"/>
              </a:rPr>
              <a:t>• 10-week build · Group 63 I</a:t>
            </a:r>
            <a:br/>
            <a:r>
              <a:t>• 5 pilot listings</a:t>
            </a:r>
            <a:br/>
            <a:r>
              <a:t>• Stripe sandbox · AI planner</a:t>
            </a:r>
            <a:br/>
            <a:r>
              <a:t>• ≥80% map-valid stops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68000" y="4356000"/>
            <a:ext cx="9270000" cy="1152000"/>
          </a:xfrm>
          <a:prstGeom prst="rect">
            <a:avLst/>
          </a:prstGeom>
          <a:solidFill>
            <a:srgbClr val="E8E0D4"/>
          </a:solidFill>
          <a:ln w="1905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12000" y="4500000"/>
            <a:ext cx="4455000" cy="864000"/>
          </a:xfrm>
          <a:prstGeom prst="rect">
            <a:avLst/>
          </a:prstGeom>
          <a:solidFill>
            <a:srgbClr val="D4CBB8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84000" y="4536000"/>
            <a:ext cx="4311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D3428"/>
                </a:solidFill>
                <a:latin typeface="Calibri"/>
              </a:rPr>
              <a:t>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84000" y="4716000"/>
            <a:ext cx="4311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2218"/>
                </a:solidFill>
                <a:latin typeface="Calibri"/>
              </a:rPr>
              <a:t>Fair host economics + seamless plan → map → book for travellers.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1000" y="4500000"/>
            <a:ext cx="4455000" cy="864000"/>
          </a:xfrm>
          <a:prstGeom prst="rect">
            <a:avLst/>
          </a:prstGeom>
          <a:solidFill>
            <a:srgbClr val="D4CBB8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3000" y="4536000"/>
            <a:ext cx="4311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D3428"/>
                </a:solidFill>
                <a:latin typeface="Calibri"/>
              </a:rPr>
              <a:t>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3000" y="4716000"/>
            <a:ext cx="4311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2218"/>
                </a:solidFill>
                <a:latin typeface="Calibri"/>
              </a:rPr>
              <a:t>Trusted direct-booking for hidden stays across SEA — one city at a time.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68000" y="5616000"/>
            <a:ext cx="9270000" cy="18216000"/>
          </a:xfrm>
          <a:prstGeom prst="rect">
            <a:avLst/>
          </a:prstGeom>
          <a:solidFill>
            <a:srgbClr val="DDD5C8"/>
          </a:solidFill>
          <a:ln w="1905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12000" y="5724000"/>
            <a:ext cx="898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C4A38"/>
                </a:solidFill>
                <a:latin typeface="Calibri"/>
              </a:rPr>
              <a:t>[ Insert app screenshots: AI Planner · Map+Book · Host Portal 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7000" y="13860000"/>
            <a:ext cx="1008000" cy="1728000"/>
          </a:xfrm>
          <a:prstGeom prst="roundRect">
            <a:avLst/>
          </a:prstGeom>
          <a:solidFill>
            <a:srgbClr val="1A1510"/>
          </a:solidFill>
          <a:ln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7000" y="13932000"/>
            <a:ext cx="100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" b="1">
                <a:solidFill>
                  <a:srgbClr val="F4F0E8"/>
                </a:solidFill>
                <a:latin typeface="Calibri"/>
              </a:rPr>
              <a:t>AI Planner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19000" y="14148000"/>
            <a:ext cx="864000" cy="1368000"/>
          </a:xfrm>
          <a:prstGeom prst="rect">
            <a:avLst/>
          </a:prstGeom>
          <a:solidFill>
            <a:srgbClr val="0F2A3A"/>
          </a:solidFill>
          <a:ln w="6350">
            <a:solidFill>
              <a:srgbClr val="1A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5000" y="14220000"/>
            <a:ext cx="792000" cy="12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A8E6CF"/>
                </a:solidFill>
                <a:latin typeface="Calibri"/>
              </a:rPr>
              <a:t>Day 1 · Chiang Mai</a:t>
            </a:r>
            <a:br/>
            <a:r>
              <a:t>Old town · Homestay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99000" y="13860000"/>
            <a:ext cx="1008000" cy="1728000"/>
          </a:xfrm>
          <a:prstGeom prst="roundRect">
            <a:avLst/>
          </a:prstGeom>
          <a:solidFill>
            <a:srgbClr val="1A1510"/>
          </a:solidFill>
          <a:ln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99000" y="13932000"/>
            <a:ext cx="100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" b="1">
                <a:solidFill>
                  <a:srgbClr val="F4F0E8"/>
                </a:solidFill>
                <a:latin typeface="Calibri"/>
              </a:rPr>
              <a:t>Map + Book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1000" y="14148000"/>
            <a:ext cx="864000" cy="1368000"/>
          </a:xfrm>
          <a:prstGeom prst="rect">
            <a:avLst/>
          </a:prstGeom>
          <a:solidFill>
            <a:srgbClr val="0F2A3A"/>
          </a:solidFill>
          <a:ln w="6350">
            <a:solidFill>
              <a:srgbClr val="1A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07000" y="14220000"/>
            <a:ext cx="792000" cy="12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A8E6CF"/>
                </a:solidFill>
                <a:latin typeface="Calibri"/>
              </a:rPr>
              <a:t>[ MAP ]</a:t>
            </a:r>
            <a:br/>
            <a:r>
              <a:t>Stay A SGD 50/n</a:t>
            </a:r>
            <a:br/>
            <a:r>
              <a:t>Book 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51000" y="13860000"/>
            <a:ext cx="1008000" cy="1728000"/>
          </a:xfrm>
          <a:prstGeom prst="roundRect">
            <a:avLst/>
          </a:prstGeom>
          <a:solidFill>
            <a:srgbClr val="1A1510"/>
          </a:solidFill>
          <a:ln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1000" y="13932000"/>
            <a:ext cx="100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" b="1">
                <a:solidFill>
                  <a:srgbClr val="F4F0E8"/>
                </a:solidFill>
                <a:latin typeface="Calibri"/>
              </a:rPr>
              <a:t>Host Portal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3000" y="14148000"/>
            <a:ext cx="864000" cy="1368000"/>
          </a:xfrm>
          <a:prstGeom prst="rect">
            <a:avLst/>
          </a:prstGeom>
          <a:solidFill>
            <a:srgbClr val="0F2A3A"/>
          </a:solidFill>
          <a:ln w="6350">
            <a:solidFill>
              <a:srgbClr val="1A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59000" y="14220000"/>
            <a:ext cx="792000" cy="12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0">
                <a:solidFill>
                  <a:srgbClr val="A8E6CF"/>
                </a:solidFill>
                <a:latin typeface="Calibri"/>
              </a:rPr>
              <a:t>Earnings</a:t>
            </a:r>
            <a:br/>
            <a:r>
              <a:t>SGD 285 avail.</a:t>
            </a:r>
            <a:br/>
            <a:r>
              <a:t>5% fee · 95% yours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46000" y="4356000"/>
            <a:ext cx="9270000" cy="1368000"/>
          </a:xfrm>
          <a:prstGeom prst="rect">
            <a:avLst/>
          </a:prstGeom>
          <a:solidFill>
            <a:srgbClr val="E8E0D4"/>
          </a:solidFill>
          <a:ln w="1905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90000" y="4464000"/>
            <a:ext cx="898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3428"/>
                </a:solidFill>
                <a:latin typeface="Calibri"/>
              </a:rPr>
              <a:t>BUSINESS MODEL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90000" y="4752000"/>
            <a:ext cx="8982000" cy="28800"/>
          </a:xfrm>
          <a:prstGeom prst="rect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90000" y="4860000"/>
            <a:ext cx="898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A2218"/>
                </a:solidFill>
                <a:latin typeface="Calibri"/>
              </a:rPr>
              <a:t>FOCUS (Supply + planner)  →  STARTER (Free · 5%)  →  4 REVENUE STREAMS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90000" y="5220000"/>
            <a:ext cx="898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2A2218"/>
                </a:solidFill>
                <a:latin typeface="Calibri"/>
              </a:rPr>
              <a:t>① 5% booking  ·  ② Growth SGD 50/mo  ·  ③ Featured SGD 99  ·  ④ Ads 7–10% (15% cap)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46000" y="5832000"/>
            <a:ext cx="9270000" cy="1872000"/>
          </a:xfrm>
          <a:prstGeom prst="rect">
            <a:avLst/>
          </a:prstGeom>
          <a:solidFill>
            <a:srgbClr val="E8E0D4"/>
          </a:solidFill>
          <a:ln w="1905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90000" y="5940000"/>
            <a:ext cx="898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3428"/>
                </a:solidFill>
                <a:latin typeface="Calibri"/>
              </a:rPr>
              <a:t>WHY US? (SWOT)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90000" y="6228000"/>
            <a:ext cx="8982000" cy="28800"/>
          </a:xfrm>
          <a:prstGeom prst="rect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90000" y="6336000"/>
            <a:ext cx="4419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3D3428"/>
                </a:solidFill>
                <a:latin typeface="Calibri"/>
              </a:rPr>
              <a:t>STRENGTHS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0000" y="6516000"/>
            <a:ext cx="4419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2A2218"/>
                </a:solidFill>
                <a:latin typeface="Calibri"/>
              </a:rPr>
              <a:t>• 5% vs 15–30% OTAs</a:t>
            </a:r>
            <a:br/>
            <a:r>
              <a:t>• Free host portal</a:t>
            </a:r>
            <a:br/>
            <a:r>
              <a:t>• Planner → book loop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453000" y="6336000"/>
            <a:ext cx="4419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3D3428"/>
                </a:solidFill>
                <a:latin typeface="Calibri"/>
              </a:rPr>
              <a:t>WEAKNESSES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453000" y="6516000"/>
            <a:ext cx="4419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2A2218"/>
                </a:solidFill>
                <a:latin typeface="Calibri"/>
              </a:rPr>
              <a:t>• Thin unit economics</a:t>
            </a:r>
            <a:br/>
            <a:r>
              <a:t>• New brand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90000" y="6984000"/>
            <a:ext cx="4419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3D3428"/>
                </a:solidFill>
                <a:latin typeface="Calibri"/>
              </a:rPr>
              <a:t>OPPORTUNITIES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90000" y="7164000"/>
            <a:ext cx="4419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2A2218"/>
                </a:solidFill>
                <a:latin typeface="Calibri"/>
              </a:rPr>
              <a:t>• SEA homestay supply</a:t>
            </a:r>
            <a:br/>
            <a:r>
              <a:t>• SEO + planner content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453000" y="6984000"/>
            <a:ext cx="4419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3D3428"/>
                </a:solidFill>
                <a:latin typeface="Calibri"/>
              </a:rPr>
              <a:t>THREATS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453000" y="7164000"/>
            <a:ext cx="4419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2A2218"/>
                </a:solidFill>
                <a:latin typeface="Calibri"/>
              </a:rPr>
              <a:t>• OTA dominance</a:t>
            </a:r>
            <a:br/>
            <a:r>
              <a:t>• Guest discovery cost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46000" y="7812000"/>
            <a:ext cx="9270000" cy="3146400"/>
          </a:xfrm>
          <a:prstGeom prst="rect">
            <a:avLst/>
          </a:prstGeom>
          <a:solidFill>
            <a:srgbClr val="C5B9A4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854000" y="9277200"/>
            <a:ext cx="216000" cy="216000"/>
          </a:xfrm>
          <a:prstGeom prst="ellipse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54000" y="9295200"/>
            <a:ext cx="216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4F0E8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78000" y="9277200"/>
            <a:ext cx="8766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D3428"/>
                </a:solidFill>
                <a:latin typeface="Calibri"/>
              </a:rPr>
              <a:t>5% MARKETPLACE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746000" y="11030400"/>
            <a:ext cx="9270000" cy="3146400"/>
          </a:xfrm>
          <a:prstGeom prst="rect">
            <a:avLst/>
          </a:prstGeom>
          <a:solidFill>
            <a:srgbClr val="C5B9A4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854000" y="12495600"/>
            <a:ext cx="216000" cy="216000"/>
          </a:xfrm>
          <a:prstGeom prst="ellipse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54000" y="12513600"/>
            <a:ext cx="216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4F0E8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78000" y="12495600"/>
            <a:ext cx="8766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D3428"/>
                </a:solidFill>
                <a:latin typeface="Calibri"/>
              </a:rPr>
              <a:t>AI PLANNER + MAP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746000" y="14248800"/>
            <a:ext cx="9270000" cy="3146400"/>
          </a:xfrm>
          <a:prstGeom prst="rect">
            <a:avLst/>
          </a:prstGeom>
          <a:solidFill>
            <a:srgbClr val="C5B9A4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54000" y="15714000"/>
            <a:ext cx="216000" cy="216000"/>
          </a:xfrm>
          <a:prstGeom prst="ellipse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54000" y="15732000"/>
            <a:ext cx="216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4F0E8"/>
                </a:solidFill>
                <a:latin typeface="Calibr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78000" y="15714000"/>
            <a:ext cx="8766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D3428"/>
                </a:solidFill>
                <a:latin typeface="Calibri"/>
              </a:rPr>
              <a:t>PLAN → BOOK FLOW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746000" y="17467200"/>
            <a:ext cx="9270000" cy="3146400"/>
          </a:xfrm>
          <a:prstGeom prst="rect">
            <a:avLst/>
          </a:prstGeom>
          <a:solidFill>
            <a:srgbClr val="C5B9A4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854000" y="18932400"/>
            <a:ext cx="216000" cy="216000"/>
          </a:xfrm>
          <a:prstGeom prst="ellipse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54000" y="18950400"/>
            <a:ext cx="216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4F0E8"/>
                </a:solidFill>
                <a:latin typeface="Calibr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78000" y="18932400"/>
            <a:ext cx="8766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D3428"/>
                </a:solidFill>
                <a:latin typeface="Calibri"/>
              </a:rPr>
              <a:t>GROWTH TOOLS (SEO)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746000" y="20685600"/>
            <a:ext cx="9270000" cy="3146400"/>
          </a:xfrm>
          <a:prstGeom prst="rect">
            <a:avLst/>
          </a:prstGeom>
          <a:solidFill>
            <a:srgbClr val="C5B9A4"/>
          </a:solidFill>
          <a:ln w="12700">
            <a:solidFill>
              <a:srgbClr val="3D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54000" y="22150800"/>
            <a:ext cx="216000" cy="216000"/>
          </a:xfrm>
          <a:prstGeom prst="ellipse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54000" y="22168800"/>
            <a:ext cx="216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4F0E8"/>
                </a:solidFill>
                <a:latin typeface="Calibr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78000" y="22150800"/>
            <a:ext cx="8766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D3428"/>
                </a:solidFill>
                <a:latin typeface="Calibri"/>
              </a:rPr>
              <a:t>18-MO SURVIVAL PLAN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68000" y="23940000"/>
            <a:ext cx="18648000" cy="28800"/>
          </a:xfrm>
          <a:prstGeom prst="rect">
            <a:avLst/>
          </a:prstGeom>
          <a:solidFill>
            <a:srgbClr val="3D3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68000" y="24048000"/>
            <a:ext cx="9324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4A38"/>
                </a:solidFill>
                <a:latin typeface="Calibri"/>
              </a:rPr>
              <a:t>Group 63 I — Zaw Latt Naung · Oakkar Phyoe · Eka Dian Tara Tiu · Chenyang Gu · Yihua Deng</a:t>
            </a:r>
            <a:br/>
            <a:r>
              <a:t>BU3102 / CP3102 Capstone · James Cook University Singapore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92000" y="24048000"/>
            <a:ext cx="9324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4A38"/>
                </a:solidFill>
                <a:latin typeface="Calibri"/>
              </a:rPr>
              <a:t>Break-even Month 18 · 55 hosts · 92 bookings/mo</a:t>
            </a:r>
            <a:br/>
            <a:r>
              <a:t>hiddenstay.app (pilot)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